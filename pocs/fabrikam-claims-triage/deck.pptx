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Start with the answer. It routes emails and reads policy numbers well enough, and handlers get through an email in well under a minute. Say the miss on claimed amounts out loud now, so nobody finds it on slide 5 and wonders what else we left out.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These are Fabrikam's own numbers, from their March time study, not ours. Let Maria add to this if she wants.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Keep this one short. The point for Dana is that nothing goes out without a handler checking it. The point for Raj is the data line: he reviewed the setup himself, so hand it to him if there are questions.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These are the five criteria we agreed with Dana and Raj at kickoff, unchanged. For claimed amounts, the count is out of 340 because only 340 emails state an amount. If asked about routing by claim type, it's in the appendix.</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screen Maria's team used in the time study. Point at the Why line: Maria worried at kickoff that handlers would stop trusting a tool that's confidently wrong, and this is the answer to that.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Both fixes are in the pilot plan, and both get retested before anything goes live. Don't promise a number for the retest: we'll know after the pilot.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Phase 2 is an estimate, and we'll firm it up after the pilot. Say that plainly. Running cost: 300 emails a day, 250 working days, $0.012 each. OCR adds about a cent per scanned page, and we'll know the yearly total after the pilot.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End on the ask and stop talking. If they need more time, say why the date matters: Wei, who built the POC, moves to another project on December 15 if the pilot hasn't started.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Only if asked. Motor, where the pilot starts, has the best routing of the four.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marL="0" algn="l" defTabSz="914400" rtl="0" eaLnBrk="1" latinLnBrk="0" hangingPunct="1">
        <a:defRPr sz="4400" kern="1200">
          <a:solidFill>
            <a:schemeClr val="tx1"/>
          </a:solidFill>
          <a:latin typeface="+mj-lt"/>
          <a:ea typeface="+mj-ea"/>
          <a:cs typeface="+mj-cs"/>
        </a:defRPr>
      </a:lvl1pPr>
    </p:titleStyle>
    <p:bodyStyle>
      <a:lvl1pPr marL="0" algn="l" defTabSz="914400" rtl="0" eaLnBrk="1" latinLnBrk="0" hangingPunct="1">
        <a:defRPr sz="2800" kern="1200">
          <a:solidFill>
            <a:schemeClr val="tx1"/>
          </a:solidFill>
          <a:latin typeface="+mn-lt"/>
          <a:ea typeface="+mn-ea"/>
          <a:cs typeface="+mn-cs"/>
        </a:defRPr>
      </a:lvl1pPr>
    </p:bodyStyle>
    <p:otherStyle>
      <a:lvl1pPr marL="0" algn="l" defTabSz="914400" rtl="0" eaLnBrk="1" latinLnBrk="0" hangingPunct="1">
        <a:defRPr sz="1800" kern="1200">
          <a:solidFill>
            <a:schemeClr val="tx1"/>
          </a:solidFill>
          <a:latin typeface="+mn-lt"/>
          <a:ea typeface="+mn-ea"/>
          <a:cs typeface="+mn-cs"/>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257175" cy="6858000"/>
          </a:xfrm>
          <a:prstGeom prst="rect">
            <a:avLst/>
          </a:prstGeom>
          <a:solidFill>
            <a:srgbClr val="1E4E8C"/>
          </a:solidFill>
          <a:ln w="0">
            <a:noFill/>
          </a:ln>
        </p:spPr>
      </p:sp>
      <p:sp>
        <p:nvSpPr>
          <p:cNvPr id="3" name="TextBox 3"/>
          <p:cNvSpPr txBox="1"/>
          <p:nvPr/>
        </p:nvSpPr>
        <p:spPr>
          <a:xfrm>
            <a:off x="1076325" y="3174802"/>
            <a:ext cx="10086975" cy="1023938"/>
          </a:xfrm>
          <a:prstGeom prst="rect">
            <a:avLst/>
          </a:prstGeom>
          <a:noFill/>
          <a:ln w="0">
            <a:noFill/>
          </a:ln>
        </p:spPr>
        <p:txBody>
          <a:bodyPr wrap="square" lIns="0" tIns="0" rIns="0" bIns="0" anchor="t" rtlCol="0">
            <a:noAutofit/>
          </a:bodyPr>
          <a:lstStyle/>
          <a:p>
            <a:pPr marL="0" indent="0" algn="l">
              <a:lnSpc>
                <a:spcPts val="4032"/>
              </a:lnSpc>
              <a:buNone/>
            </a:pPr>
            <a:r>
              <a:rPr lang="en-US" sz="3600" b="1" dirty="0">
                <a:solidFill>
                  <a:srgbClr val="1F2937"/>
                </a:solidFill>
                <a:latin typeface="Arial"/>
                <a:cs typeface="Arial"/>
              </a:rPr>
              <a:t>Claims Email Triage POC: Results and Next Steps</a:t>
            </a:r>
            <a:endParaRPr lang="en-US" sz="3600" dirty="0"/>
          </a:p>
        </p:txBody>
      </p:sp>
      <p:sp>
        <p:nvSpPr>
          <p:cNvPr id="4" name="Shape 4"/>
          <p:cNvSpPr/>
          <p:nvPr/>
        </p:nvSpPr>
        <p:spPr>
          <a:xfrm>
            <a:off x="1076325" y="4484489"/>
            <a:ext cx="819150" cy="57150"/>
          </a:xfrm>
          <a:prstGeom prst="rect">
            <a:avLst/>
          </a:prstGeom>
          <a:solidFill>
            <a:srgbClr val="1E4E8C"/>
          </a:solidFill>
          <a:ln w="0">
            <a:noFill/>
          </a:ln>
        </p:spPr>
      </p:sp>
      <p:sp>
        <p:nvSpPr>
          <p:cNvPr id="5" name="TextBox 5"/>
          <p:cNvSpPr txBox="1"/>
          <p:nvPr/>
        </p:nvSpPr>
        <p:spPr>
          <a:xfrm>
            <a:off x="1076325" y="4789289"/>
            <a:ext cx="10086975" cy="319980"/>
          </a:xfrm>
          <a:prstGeom prst="rect">
            <a:avLst/>
          </a:prstGeom>
          <a:noFill/>
          <a:ln w="0">
            <a:noFill/>
          </a:ln>
        </p:spPr>
        <p:txBody>
          <a:bodyPr wrap="square" lIns="0" tIns="0" rIns="0" bIns="0" anchor="t" rtlCol="0">
            <a:noAutofit/>
          </a:bodyPr>
          <a:lstStyle/>
          <a:p>
            <a:pPr marL="0" indent="0" algn="l">
              <a:lnSpc>
                <a:spcPts val="2520"/>
              </a:lnSpc>
              <a:buNone/>
            </a:pPr>
            <a:r>
              <a:rPr lang="en-US" sz="1800" dirty="0">
                <a:solidFill>
                  <a:srgbClr val="6B7280"/>
                </a:solidFill>
                <a:latin typeface="Arial"/>
                <a:cs typeface="Arial"/>
              </a:rPr>
              <a:t>Fabrikam Insurance · Contoso Consulting</a:t>
            </a:r>
            <a:endParaRPr lang="en-US" sz="1800" dirty="0"/>
          </a:p>
        </p:txBody>
      </p:sp>
      <p:sp>
        <p:nvSpPr>
          <p:cNvPr id="6" name="TextBox 6"/>
          <p:cNvSpPr txBox="1"/>
          <p:nvPr/>
        </p:nvSpPr>
        <p:spPr>
          <a:xfrm>
            <a:off x="1076325" y="5109270"/>
            <a:ext cx="10086975" cy="319980"/>
          </a:xfrm>
          <a:prstGeom prst="rect">
            <a:avLst/>
          </a:prstGeom>
          <a:noFill/>
          <a:ln w="0">
            <a:noFill/>
          </a:ln>
        </p:spPr>
        <p:txBody>
          <a:bodyPr wrap="square" lIns="0" tIns="0" rIns="0" bIns="0" anchor="t" rtlCol="0">
            <a:noAutofit/>
          </a:bodyPr>
          <a:lstStyle/>
          <a:p>
            <a:pPr marL="0" indent="0" algn="l">
              <a:lnSpc>
                <a:spcPts val="2520"/>
              </a:lnSpc>
              <a:buNone/>
            </a:pPr>
            <a:r>
              <a:rPr lang="en-US" sz="1800" dirty="0">
                <a:solidFill>
                  <a:srgbClr val="6B7280"/>
                </a:solidFill>
                <a:latin typeface="Arial"/>
                <a:cs typeface="Arial"/>
              </a:rPr>
              <a:t>October 22,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552450" y="361950"/>
            <a:ext cx="504825" cy="57150"/>
          </a:xfrm>
          <a:prstGeom prst="rect">
            <a:avLst/>
          </a:prstGeom>
          <a:solidFill>
            <a:srgbClr val="1E4E8C"/>
          </a:solidFill>
          <a:ln w="0">
            <a:noFill/>
          </a:ln>
        </p:spPr>
      </p:sp>
      <p:sp>
        <p:nvSpPr>
          <p:cNvPr id="3" name="TextBox 3"/>
          <p:cNvSpPr txBox="1"/>
          <p:nvPr/>
        </p:nvSpPr>
        <p:spPr>
          <a:xfrm>
            <a:off x="552450" y="533400"/>
            <a:ext cx="11201400" cy="713184"/>
          </a:xfrm>
          <a:prstGeom prst="rect">
            <a:avLst/>
          </a:prstGeom>
          <a:noFill/>
          <a:ln w="0">
            <a:noFill/>
          </a:ln>
        </p:spPr>
        <p:txBody>
          <a:bodyPr wrap="square" lIns="0" tIns="0" rIns="0" bIns="0" anchor="t" rtlCol="0">
            <a:noAutofit/>
          </a:bodyPr>
          <a:lstStyle/>
          <a:p>
            <a:pPr marL="0" indent="0" algn="l">
              <a:lnSpc>
                <a:spcPts val="2808"/>
              </a:lnSpc>
              <a:buNone/>
            </a:pPr>
            <a:r>
              <a:rPr lang="en-US" sz="2400" b="1" dirty="0">
                <a:solidFill>
                  <a:srgbClr val="1F2937"/>
                </a:solidFill>
                <a:latin typeface="Arial"/>
                <a:cs typeface="Arial"/>
              </a:rPr>
              <a:t>AI triage met 4 of 5 success criteria and cut handling time from 6 minutes to 41 seconds per email</a:t>
            </a:r>
            <a:endParaRPr lang="en-US" sz="2400" dirty="0"/>
          </a:p>
        </p:txBody>
      </p:sp>
      <p:sp>
        <p:nvSpPr>
          <p:cNvPr id="4" name="TextBox 4"/>
          <p:cNvSpPr txBox="1"/>
          <p:nvPr/>
        </p:nvSpPr>
        <p:spPr>
          <a:xfrm>
            <a:off x="552450" y="1532334"/>
            <a:ext cx="11201400" cy="260003"/>
          </a:xfrm>
          <a:prstGeom prst="rect">
            <a:avLst/>
          </a:prstGeom>
          <a:noFill/>
          <a:ln w="0">
            <a:noFill/>
          </a:ln>
        </p:spPr>
        <p:txBody>
          <a:bodyPr wrap="square" lIns="0" tIns="0" rIns="0" bIns="0" anchor="t" rtlCol="0">
            <a:noAutofit/>
          </a:bodyPr>
          <a:lstStyle/>
          <a:p>
            <a:pPr marL="0" indent="0" algn="l">
              <a:lnSpc>
                <a:spcPts val="2048"/>
              </a:lnSpc>
              <a:buNone/>
            </a:pPr>
            <a:r>
              <a:rPr lang="en-US" sz="1575" dirty="0">
                <a:solidFill>
                  <a:srgbClr val="1F2937"/>
                </a:solidFill>
                <a:latin typeface="Arial"/>
                <a:cs typeface="Arial"/>
              </a:rPr>
              <a:t>We recommend an 8-week pilot on the Motor inbox, with a fix for scanned claim forms.</a:t>
            </a:r>
            <a:endParaRPr lang="en-US" sz="1575" dirty="0"/>
          </a:p>
        </p:txBody>
      </p:sp>
      <p:sp>
        <p:nvSpPr>
          <p:cNvPr id="5" name="Shape 5"/>
          <p:cNvSpPr/>
          <p:nvPr/>
        </p:nvSpPr>
        <p:spPr>
          <a:xfrm>
            <a:off x="552450" y="2039987"/>
            <a:ext cx="3441650" cy="47625"/>
          </a:xfrm>
          <a:prstGeom prst="rect">
            <a:avLst/>
          </a:prstGeom>
          <a:solidFill>
            <a:srgbClr val="1E4E8C"/>
          </a:solidFill>
          <a:ln w="0">
            <a:noFill/>
          </a:ln>
        </p:spPr>
      </p:sp>
      <p:sp>
        <p:nvSpPr>
          <p:cNvPr id="6" name="TextBox 6"/>
          <p:cNvSpPr txBox="1"/>
          <p:nvPr/>
        </p:nvSpPr>
        <p:spPr>
          <a:xfrm>
            <a:off x="552450" y="2240012"/>
            <a:ext cx="3510483" cy="555278"/>
          </a:xfrm>
          <a:prstGeom prst="rect">
            <a:avLst/>
          </a:prstGeom>
          <a:noFill/>
          <a:ln w="0">
            <a:noFill/>
          </a:ln>
        </p:spPr>
        <p:txBody>
          <a:bodyPr wrap="square" lIns="0" tIns="0" rIns="0" bIns="0" anchor="t" rtlCol="0">
            <a:noAutofit/>
          </a:bodyPr>
          <a:lstStyle/>
          <a:p>
            <a:pPr marL="0" indent="0" algn="l">
              <a:lnSpc>
                <a:spcPts val="4372"/>
              </a:lnSpc>
              <a:buNone/>
            </a:pPr>
            <a:r>
              <a:rPr lang="en-US" sz="3975" b="1" dirty="0">
                <a:solidFill>
                  <a:srgbClr val="1E4E8C"/>
                </a:solidFill>
                <a:latin typeface="Arial"/>
                <a:cs typeface="Arial"/>
              </a:rPr>
              <a:t>92.5%</a:t>
            </a:r>
            <a:endParaRPr lang="en-US" sz="3975" dirty="0"/>
          </a:p>
        </p:txBody>
      </p:sp>
      <p:sp>
        <p:nvSpPr>
          <p:cNvPr id="7" name="TextBox 7"/>
          <p:cNvSpPr txBox="1"/>
          <p:nvPr/>
        </p:nvSpPr>
        <p:spPr>
          <a:xfrm>
            <a:off x="552450" y="2928640"/>
            <a:ext cx="3510483" cy="520005"/>
          </a:xfrm>
          <a:prstGeom prst="rect">
            <a:avLst/>
          </a:prstGeom>
          <a:noFill/>
          <a:ln w="0">
            <a:noFill/>
          </a:ln>
        </p:spPr>
        <p:txBody>
          <a:bodyPr wrap="square" lIns="0" tIns="0" rIns="0" bIns="0" anchor="t" rtlCol="0">
            <a:noAutofit/>
          </a:bodyPr>
          <a:lstStyle/>
          <a:p>
            <a:pPr marL="0" indent="0" algn="l">
              <a:lnSpc>
                <a:spcPts val="2048"/>
              </a:lnSpc>
              <a:buNone/>
            </a:pPr>
            <a:r>
              <a:rPr lang="en-US" sz="1575" dirty="0">
                <a:solidFill>
                  <a:srgbClr val="1F2937"/>
                </a:solidFill>
                <a:latin typeface="Arial"/>
                <a:cs typeface="Arial"/>
              </a:rPr>
              <a:t>of emails routed to the right team, against a 90% target</a:t>
            </a:r>
            <a:endParaRPr lang="en-US" sz="1575" dirty="0"/>
          </a:p>
        </p:txBody>
      </p:sp>
      <p:sp>
        <p:nvSpPr>
          <p:cNvPr id="8" name="Shape 8"/>
          <p:cNvSpPr/>
          <p:nvPr/>
        </p:nvSpPr>
        <p:spPr>
          <a:xfrm>
            <a:off x="4375100" y="2039987"/>
            <a:ext cx="3441650" cy="47625"/>
          </a:xfrm>
          <a:prstGeom prst="rect">
            <a:avLst/>
          </a:prstGeom>
          <a:solidFill>
            <a:srgbClr val="1E4E8C"/>
          </a:solidFill>
          <a:ln w="0">
            <a:noFill/>
          </a:ln>
        </p:spPr>
      </p:sp>
      <p:sp>
        <p:nvSpPr>
          <p:cNvPr id="9" name="TextBox 9"/>
          <p:cNvSpPr txBox="1"/>
          <p:nvPr/>
        </p:nvSpPr>
        <p:spPr>
          <a:xfrm>
            <a:off x="4375100" y="2240012"/>
            <a:ext cx="3510483" cy="555278"/>
          </a:xfrm>
          <a:prstGeom prst="rect">
            <a:avLst/>
          </a:prstGeom>
          <a:noFill/>
          <a:ln w="0">
            <a:noFill/>
          </a:ln>
        </p:spPr>
        <p:txBody>
          <a:bodyPr wrap="square" lIns="0" tIns="0" rIns="0" bIns="0" anchor="t" rtlCol="0">
            <a:noAutofit/>
          </a:bodyPr>
          <a:lstStyle/>
          <a:p>
            <a:pPr marL="0" indent="0" algn="l">
              <a:lnSpc>
                <a:spcPts val="4372"/>
              </a:lnSpc>
              <a:buNone/>
            </a:pPr>
            <a:r>
              <a:rPr lang="en-US" sz="3975" b="1" dirty="0">
                <a:solidFill>
                  <a:srgbClr val="1E4E8C"/>
                </a:solidFill>
                <a:latin typeface="Arial"/>
                <a:cs typeface="Arial"/>
              </a:rPr>
              <a:t>41 s</a:t>
            </a:r>
            <a:endParaRPr lang="en-US" sz="3975" dirty="0"/>
          </a:p>
        </p:txBody>
      </p:sp>
      <p:sp>
        <p:nvSpPr>
          <p:cNvPr id="10" name="TextBox 10"/>
          <p:cNvSpPr txBox="1"/>
          <p:nvPr/>
        </p:nvSpPr>
        <p:spPr>
          <a:xfrm>
            <a:off x="4375100" y="2928640"/>
            <a:ext cx="3510483" cy="520005"/>
          </a:xfrm>
          <a:prstGeom prst="rect">
            <a:avLst/>
          </a:prstGeom>
          <a:noFill/>
          <a:ln w="0">
            <a:noFill/>
          </a:ln>
        </p:spPr>
        <p:txBody>
          <a:bodyPr wrap="square" lIns="0" tIns="0" rIns="0" bIns="0" anchor="t" rtlCol="0">
            <a:noAutofit/>
          </a:bodyPr>
          <a:lstStyle/>
          <a:p>
            <a:pPr marL="0" indent="0" algn="l">
              <a:lnSpc>
                <a:spcPts val="2048"/>
              </a:lnSpc>
              <a:buNone/>
            </a:pPr>
            <a:r>
              <a:rPr lang="en-US" sz="1575" dirty="0">
                <a:solidFill>
                  <a:srgbClr val="1F2937"/>
                </a:solidFill>
                <a:latin typeface="Arial"/>
                <a:cs typeface="Arial"/>
              </a:rPr>
              <a:t>to handle an email with a handler checking, down from 6 min 10 s</a:t>
            </a:r>
            <a:endParaRPr lang="en-US" sz="1575" dirty="0"/>
          </a:p>
        </p:txBody>
      </p:sp>
      <p:sp>
        <p:nvSpPr>
          <p:cNvPr id="11" name="Shape 11"/>
          <p:cNvSpPr/>
          <p:nvPr/>
        </p:nvSpPr>
        <p:spPr>
          <a:xfrm>
            <a:off x="8197751" y="2039987"/>
            <a:ext cx="3441799" cy="47625"/>
          </a:xfrm>
          <a:prstGeom prst="rect">
            <a:avLst/>
          </a:prstGeom>
          <a:solidFill>
            <a:srgbClr val="1E4E8C"/>
          </a:solidFill>
          <a:ln w="0">
            <a:noFill/>
          </a:ln>
        </p:spPr>
      </p:sp>
      <p:sp>
        <p:nvSpPr>
          <p:cNvPr id="12" name="TextBox 12"/>
          <p:cNvSpPr txBox="1"/>
          <p:nvPr/>
        </p:nvSpPr>
        <p:spPr>
          <a:xfrm>
            <a:off x="8197751" y="2240012"/>
            <a:ext cx="3510635" cy="555278"/>
          </a:xfrm>
          <a:prstGeom prst="rect">
            <a:avLst/>
          </a:prstGeom>
          <a:noFill/>
          <a:ln w="0">
            <a:noFill/>
          </a:ln>
        </p:spPr>
        <p:txBody>
          <a:bodyPr wrap="square" lIns="0" tIns="0" rIns="0" bIns="0" anchor="t" rtlCol="0">
            <a:noAutofit/>
          </a:bodyPr>
          <a:lstStyle/>
          <a:p>
            <a:pPr marL="0" indent="0" algn="l">
              <a:lnSpc>
                <a:spcPts val="4372"/>
              </a:lnSpc>
              <a:buNone/>
            </a:pPr>
            <a:r>
              <a:rPr lang="en-US" sz="3975" b="1" dirty="0">
                <a:solidFill>
                  <a:srgbClr val="1E4E8C"/>
                </a:solidFill>
                <a:latin typeface="Arial"/>
                <a:cs typeface="Arial"/>
              </a:rPr>
              <a:t>88.2%</a:t>
            </a:r>
            <a:endParaRPr lang="en-US" sz="3975" dirty="0"/>
          </a:p>
        </p:txBody>
      </p:sp>
      <p:sp>
        <p:nvSpPr>
          <p:cNvPr id="13" name="TextBox 13"/>
          <p:cNvSpPr txBox="1"/>
          <p:nvPr/>
        </p:nvSpPr>
        <p:spPr>
          <a:xfrm>
            <a:off x="8197751" y="2928640"/>
            <a:ext cx="3510635" cy="780008"/>
          </a:xfrm>
          <a:prstGeom prst="rect">
            <a:avLst/>
          </a:prstGeom>
          <a:noFill/>
          <a:ln w="0">
            <a:noFill/>
          </a:ln>
        </p:spPr>
        <p:txBody>
          <a:bodyPr wrap="square" lIns="0" tIns="0" rIns="0" bIns="0" anchor="t" rtlCol="0">
            <a:noAutofit/>
          </a:bodyPr>
          <a:lstStyle/>
          <a:p>
            <a:pPr marL="0" indent="0" algn="l">
              <a:lnSpc>
                <a:spcPts val="2048"/>
              </a:lnSpc>
              <a:buNone/>
            </a:pPr>
            <a:r>
              <a:rPr lang="en-US" sz="1575" dirty="0">
                <a:solidFill>
                  <a:srgbClr val="1F2937"/>
                </a:solidFill>
                <a:latin typeface="Arial"/>
                <a:cs typeface="Arial"/>
              </a:rPr>
              <a:t>of claimed amounts read correctly, short of the 95% target because of scanned forms</a:t>
            </a:r>
            <a:endParaRPr lang="en-US" sz="1575" dirty="0"/>
          </a:p>
        </p:txBody>
      </p:sp>
      <p:sp>
        <p:nvSpPr>
          <p:cNvPr id="14" name="TextBox 14"/>
          <p:cNvSpPr txBox="1"/>
          <p:nvPr/>
        </p:nvSpPr>
        <p:spPr>
          <a:xfrm>
            <a:off x="552450" y="5858917"/>
            <a:ext cx="11201400" cy="332333"/>
          </a:xfrm>
          <a:prstGeom prst="rect">
            <a:avLst/>
          </a:prstGeom>
          <a:noFill/>
          <a:ln w="0">
            <a:noFill/>
          </a:ln>
        </p:spPr>
        <p:txBody>
          <a:bodyPr wrap="square" lIns="0" tIns="171450" rIns="0" bIns="0" anchor="t" rtlCol="0">
            <a:noAutofit/>
          </a:bodyPr>
          <a:lstStyle/>
          <a:p>
            <a:pPr marL="0" indent="0" algn="l">
              <a:lnSpc>
                <a:spcPts val="1268"/>
              </a:lnSpc>
              <a:buNone/>
            </a:pPr>
            <a:r>
              <a:rPr lang="en-US" sz="975" dirty="0">
                <a:solidFill>
                  <a:srgbClr val="6B7280"/>
                </a:solidFill>
                <a:latin typeface="Arial"/>
                <a:cs typeface="Arial"/>
              </a:rPr>
              <a:t>Source: POC test on 600 anonymized emails from January to June 2026. Time study with 3 handlers, 150 emails.</a:t>
            </a:r>
            <a:endParaRPr lang="en-US" sz="975" dirty="0"/>
          </a:p>
        </p:txBody>
      </p:sp>
      <p:sp>
        <p:nvSpPr>
          <p:cNvPr id="15" name="TextBox 15"/>
          <p:cNvSpPr txBox="1"/>
          <p:nvPr/>
        </p:nvSpPr>
        <p:spPr>
          <a:xfrm>
            <a:off x="552450" y="6454229"/>
            <a:ext cx="1736949"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Contoso Consulting · Confidential</a:t>
            </a:r>
            <a:endParaRPr lang="en-US" sz="900" dirty="0"/>
          </a:p>
        </p:txBody>
      </p:sp>
      <p:sp>
        <p:nvSpPr>
          <p:cNvPr id="16" name="TextBox 16"/>
          <p:cNvSpPr txBox="1"/>
          <p:nvPr/>
        </p:nvSpPr>
        <p:spPr>
          <a:xfrm>
            <a:off x="11575852" y="6454229"/>
            <a:ext cx="64972"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552450" y="361950"/>
            <a:ext cx="504825" cy="57150"/>
          </a:xfrm>
          <a:prstGeom prst="rect">
            <a:avLst/>
          </a:prstGeom>
          <a:solidFill>
            <a:srgbClr val="1E4E8C"/>
          </a:solidFill>
          <a:ln w="0">
            <a:noFill/>
          </a:ln>
        </p:spPr>
      </p:sp>
      <p:sp>
        <p:nvSpPr>
          <p:cNvPr id="3" name="TextBox 3"/>
          <p:cNvSpPr txBox="1"/>
          <p:nvPr/>
        </p:nvSpPr>
        <p:spPr>
          <a:xfrm>
            <a:off x="552450" y="533400"/>
            <a:ext cx="11201400" cy="713184"/>
          </a:xfrm>
          <a:prstGeom prst="rect">
            <a:avLst/>
          </a:prstGeom>
          <a:noFill/>
          <a:ln w="0">
            <a:noFill/>
          </a:ln>
        </p:spPr>
        <p:txBody>
          <a:bodyPr wrap="square" lIns="0" tIns="0" rIns="0" bIns="0" anchor="t" rtlCol="0">
            <a:noAutofit/>
          </a:bodyPr>
          <a:lstStyle/>
          <a:p>
            <a:pPr marL="0" indent="0" algn="l">
              <a:lnSpc>
                <a:spcPts val="2808"/>
              </a:lnSpc>
              <a:buNone/>
            </a:pPr>
            <a:r>
              <a:rPr lang="en-US" sz="2400" b="1" dirty="0">
                <a:solidFill>
                  <a:srgbClr val="1F2937"/>
                </a:solidFill>
                <a:latin typeface="Arial"/>
                <a:cs typeface="Arial"/>
              </a:rPr>
              <a:t>Your intake team spends about 30 hours a day reading and routing claim emails</a:t>
            </a:r>
            <a:endParaRPr lang="en-US" sz="2400" dirty="0"/>
          </a:p>
        </p:txBody>
      </p:sp>
      <p:sp>
        <p:nvSpPr>
          <p:cNvPr id="4" name="TextBox 4"/>
          <p:cNvSpPr txBox="1"/>
          <p:nvPr/>
        </p:nvSpPr>
        <p:spPr>
          <a:xfrm>
            <a:off x="552450" y="1532334"/>
            <a:ext cx="11201400" cy="1485900"/>
          </a:xfrm>
          <a:prstGeom prst="rect">
            <a:avLst/>
          </a:prstGeom>
          <a:noFill/>
          <a:ln w="0">
            <a:noFill/>
          </a:ln>
        </p:spPr>
        <p:txBody>
          <a:bodyPr wrap="square" lIns="0" tIns="0" rIns="0" bIns="0" anchor="t" rtlCol="0">
            <a:noAutofit/>
          </a:bodyPr>
          <a:lstStyle/>
          <a:p>
            <a:pPr marL="285750" indent="-194310" algn="l">
              <a:lnSpc>
                <a:spcPts val="2250"/>
              </a:lnSpc>
              <a:buClr>
                <a:srgbClr val="1E4E8C"/>
              </a:buClr>
              <a:buFont typeface="Arial"/>
              <a:buChar char="•"/>
            </a:pPr>
            <a:r>
              <a:rPr lang="en-US" sz="1800" b="1" dirty="0">
                <a:solidFill>
                  <a:srgbClr val="1F2937"/>
                </a:solidFill>
                <a:latin typeface="Arial"/>
                <a:cs typeface="Arial"/>
              </a:rPr>
              <a:t>300 claim emails a day,</a:t>
            </a:r>
            <a:r>
              <a:rPr lang="en-US" sz="1800" dirty="0">
                <a:solidFill>
                  <a:srgbClr val="1F2937"/>
                </a:solidFill>
                <a:latin typeface="Arial"/>
                <a:cs typeface="Arial"/>
              </a:rPr>
              <a:t> each read by one of the 4 people on Maria's team</a:t>
            </a:r>
            <a:endParaRPr lang="en-US" sz="1800" dirty="0"/>
          </a:p>
          <a:p>
            <a:pPr marL="285750" indent="-194310" algn="l">
              <a:lnSpc>
                <a:spcPts val="2250"/>
              </a:lnSpc>
              <a:spcBef>
                <a:spcPts val="900"/>
              </a:spcBef>
              <a:buClr>
                <a:srgbClr val="1E4E8C"/>
              </a:buClr>
              <a:buFont typeface="Arial"/>
              <a:buChar char="•"/>
            </a:pPr>
            <a:r>
              <a:rPr lang="en-US" sz="1800" b="1" dirty="0">
                <a:solidFill>
                  <a:srgbClr val="1F2937"/>
                </a:solidFill>
                <a:latin typeface="Arial"/>
                <a:cs typeface="Arial"/>
              </a:rPr>
              <a:t>6 min 10 s per email</a:t>
            </a:r>
            <a:r>
              <a:rPr lang="en-US" sz="1800" dirty="0">
                <a:solidFill>
                  <a:srgbClr val="1F2937"/>
                </a:solidFill>
                <a:latin typeface="Arial"/>
                <a:cs typeface="Arial"/>
              </a:rPr>
              <a:t> to find the claim type, policy number, and amount, type them in, and forward it</a:t>
            </a:r>
            <a:endParaRPr lang="en-US" sz="1800" dirty="0"/>
          </a:p>
          <a:p>
            <a:pPr marL="285750" indent="-194310" algn="l">
              <a:lnSpc>
                <a:spcPts val="2250"/>
              </a:lnSpc>
              <a:spcBef>
                <a:spcPts val="900"/>
              </a:spcBef>
              <a:buClr>
                <a:srgbClr val="1E4E8C"/>
              </a:buClr>
              <a:buFont typeface="Arial"/>
              <a:buChar char="•"/>
            </a:pPr>
            <a:r>
              <a:rPr lang="en-US" sz="1800" b="1" dirty="0">
                <a:solidFill>
                  <a:srgbClr val="1F2937"/>
                </a:solidFill>
                <a:latin typeface="Arial"/>
                <a:cs typeface="Arial"/>
              </a:rPr>
              <a:t>Up to 2 days of backlog</a:t>
            </a:r>
            <a:r>
              <a:rPr lang="en-US" sz="1800" dirty="0">
                <a:solidFill>
                  <a:srgbClr val="1F2937"/>
                </a:solidFill>
                <a:latin typeface="Arial"/>
                <a:cs typeface="Arial"/>
              </a:rPr>
              <a:t> in storm weeks, when customers call to ask if their claim arrived</a:t>
            </a:r>
            <a:endParaRPr lang="en-US" sz="1800" dirty="0"/>
          </a:p>
          <a:p>
            <a:pPr marL="285750" indent="-194310" algn="l">
              <a:lnSpc>
                <a:spcPts val="2250"/>
              </a:lnSpc>
              <a:spcBef>
                <a:spcPts val="900"/>
              </a:spcBef>
              <a:buClr>
                <a:srgbClr val="1E4E8C"/>
              </a:buClr>
              <a:buFont typeface="Arial"/>
              <a:buChar char="•"/>
            </a:pPr>
            <a:r>
              <a:rPr lang="en-US" sz="1800" b="1" dirty="0">
                <a:solidFill>
                  <a:srgbClr val="1F2937"/>
                </a:solidFill>
                <a:latin typeface="Arial"/>
                <a:cs typeface="Arial"/>
              </a:rPr>
              <a:t>The question for the POC:</a:t>
            </a:r>
            <a:r>
              <a:rPr lang="en-US" sz="1800" dirty="0">
                <a:solidFill>
                  <a:srgbClr val="1F2937"/>
                </a:solidFill>
                <a:latin typeface="Arial"/>
                <a:cs typeface="Arial"/>
              </a:rPr>
              <a:t> can AI do the first read well enough that a handler only has to check it?</a:t>
            </a:r>
            <a:endParaRPr lang="en-US" sz="1800" dirty="0"/>
          </a:p>
        </p:txBody>
      </p:sp>
      <p:sp>
        <p:nvSpPr>
          <p:cNvPr id="5" name="TextBox 5"/>
          <p:cNvSpPr txBox="1"/>
          <p:nvPr/>
        </p:nvSpPr>
        <p:spPr>
          <a:xfrm>
            <a:off x="552450" y="5858917"/>
            <a:ext cx="11201400" cy="332333"/>
          </a:xfrm>
          <a:prstGeom prst="rect">
            <a:avLst/>
          </a:prstGeom>
          <a:noFill/>
          <a:ln w="0">
            <a:noFill/>
          </a:ln>
        </p:spPr>
        <p:txBody>
          <a:bodyPr wrap="square" lIns="0" tIns="171450" rIns="0" bIns="0" anchor="t" rtlCol="0">
            <a:noAutofit/>
          </a:bodyPr>
          <a:lstStyle/>
          <a:p>
            <a:pPr marL="0" indent="0" algn="l">
              <a:lnSpc>
                <a:spcPts val="1268"/>
              </a:lnSpc>
              <a:buNone/>
            </a:pPr>
            <a:r>
              <a:rPr lang="en-US" sz="975" dirty="0">
                <a:solidFill>
                  <a:srgbClr val="6B7280"/>
                </a:solidFill>
                <a:latin typeface="Arial"/>
                <a:cs typeface="Arial"/>
              </a:rPr>
              <a:t>Source: Fabrikam time study, March 2026.</a:t>
            </a:r>
            <a:endParaRPr lang="en-US" sz="975" dirty="0"/>
          </a:p>
        </p:txBody>
      </p:sp>
      <p:sp>
        <p:nvSpPr>
          <p:cNvPr id="6" name="TextBox 6"/>
          <p:cNvSpPr txBox="1"/>
          <p:nvPr/>
        </p:nvSpPr>
        <p:spPr>
          <a:xfrm>
            <a:off x="552450" y="6454229"/>
            <a:ext cx="1736949"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Contoso Consulting · Confidential</a:t>
            </a:r>
            <a:endParaRPr lang="en-US" sz="900" dirty="0"/>
          </a:p>
        </p:txBody>
      </p:sp>
      <p:sp>
        <p:nvSpPr>
          <p:cNvPr id="7" name="TextBox 7"/>
          <p:cNvSpPr txBox="1"/>
          <p:nvPr/>
        </p:nvSpPr>
        <p:spPr>
          <a:xfrm>
            <a:off x="11575852" y="6454229"/>
            <a:ext cx="64972"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552450" y="361950"/>
            <a:ext cx="504825" cy="57150"/>
          </a:xfrm>
          <a:prstGeom prst="rect">
            <a:avLst/>
          </a:prstGeom>
          <a:solidFill>
            <a:srgbClr val="1E4E8C"/>
          </a:solidFill>
          <a:ln w="0">
            <a:noFill/>
          </a:ln>
        </p:spPr>
      </p:sp>
      <p:sp>
        <p:nvSpPr>
          <p:cNvPr id="3" name="TextBox 3"/>
          <p:cNvSpPr txBox="1"/>
          <p:nvPr/>
        </p:nvSpPr>
        <p:spPr>
          <a:xfrm>
            <a:off x="552450" y="533400"/>
            <a:ext cx="11201400" cy="713184"/>
          </a:xfrm>
          <a:prstGeom prst="rect">
            <a:avLst/>
          </a:prstGeom>
          <a:noFill/>
          <a:ln w="0">
            <a:noFill/>
          </a:ln>
        </p:spPr>
        <p:txBody>
          <a:bodyPr wrap="square" lIns="0" tIns="0" rIns="0" bIns="0" anchor="t" rtlCol="0">
            <a:noAutofit/>
          </a:bodyPr>
          <a:lstStyle/>
          <a:p>
            <a:pPr marL="0" indent="0" algn="l">
              <a:lnSpc>
                <a:spcPts val="2808"/>
              </a:lnSpc>
              <a:buNone/>
            </a:pPr>
            <a:r>
              <a:rPr lang="en-US" sz="2400" b="1" dirty="0">
                <a:solidFill>
                  <a:srgbClr val="1F2937"/>
                </a:solidFill>
                <a:latin typeface="Arial"/>
                <a:cs typeface="Arial"/>
              </a:rPr>
              <a:t>The AI reads each email and suggests where it goes; a handler checks every suggestion</a:t>
            </a:r>
            <a:endParaRPr lang="en-US" sz="2400" dirty="0"/>
          </a:p>
        </p:txBody>
      </p:sp>
      <p:sp>
        <p:nvSpPr>
          <p:cNvPr id="4" name="Shape 4"/>
          <p:cNvSpPr/>
          <p:nvPr/>
        </p:nvSpPr>
        <p:spPr>
          <a:xfrm>
            <a:off x="552450" y="1532334"/>
            <a:ext cx="2386012" cy="1295400"/>
          </a:xfrm>
          <a:prstGeom prst="roundRect">
            <a:avLst>
              <a:gd name="adj" fmla="val 7352"/>
            </a:avLst>
          </a:prstGeom>
          <a:solidFill>
            <a:srgbClr val="E8EDF4"/>
          </a:solidFill>
          <a:ln w="9525">
            <a:solidFill>
              <a:srgbClr val="1E4E8C"/>
            </a:solidFill>
          </a:ln>
        </p:spPr>
        <p:txBody>
          <a:bodyPr wrap="square" lIns="161925" tIns="142875" rIns="161925" bIns="142875" anchor="ctr" rtlCol="0">
            <a:noAutofit/>
          </a:bodyPr>
          <a:lstStyle/>
          <a:p>
            <a:pPr marL="0" indent="0" algn="ctr">
              <a:lnSpc>
                <a:spcPts val="1875"/>
              </a:lnSpc>
              <a:buNone/>
            </a:pPr>
            <a:r>
              <a:rPr lang="en-US" sz="1500" dirty="0">
                <a:solidFill>
                  <a:srgbClr val="1F2937"/>
                </a:solidFill>
                <a:latin typeface="Arial"/>
                <a:cs typeface="Arial"/>
              </a:rPr>
              <a:t>Email arrives in the claims inbox</a:t>
            </a:r>
            <a:endParaRPr lang="en-US" sz="1500" dirty="0"/>
          </a:p>
        </p:txBody>
      </p:sp>
      <p:sp>
        <p:nvSpPr>
          <p:cNvPr id="5" name="Shape 5"/>
          <p:cNvSpPr/>
          <p:nvPr/>
        </p:nvSpPr>
        <p:spPr>
          <a:xfrm>
            <a:off x="3052762" y="2037159"/>
            <a:ext cx="285750" cy="285750"/>
          </a:xfrm>
          <a:prstGeom prst="rightArrow">
            <a:avLst/>
          </a:prstGeom>
          <a:solidFill>
            <a:srgbClr val="9CA3AF"/>
          </a:solidFill>
          <a:ln w="0">
            <a:noFill/>
          </a:ln>
        </p:spPr>
      </p:sp>
      <p:sp>
        <p:nvSpPr>
          <p:cNvPr id="6" name="Shape 6"/>
          <p:cNvSpPr/>
          <p:nvPr/>
        </p:nvSpPr>
        <p:spPr>
          <a:xfrm>
            <a:off x="3452812" y="1532334"/>
            <a:ext cx="2386012" cy="1295400"/>
          </a:xfrm>
          <a:prstGeom prst="roundRect">
            <a:avLst>
              <a:gd name="adj" fmla="val 7352"/>
            </a:avLst>
          </a:prstGeom>
          <a:solidFill>
            <a:srgbClr val="E8EDF4"/>
          </a:solidFill>
          <a:ln w="9525">
            <a:solidFill>
              <a:srgbClr val="1E4E8C"/>
            </a:solidFill>
          </a:ln>
        </p:spPr>
        <p:txBody>
          <a:bodyPr wrap="square" lIns="161925" tIns="142875" rIns="161925" bIns="142875" anchor="ctr" rtlCol="0">
            <a:noAutofit/>
          </a:bodyPr>
          <a:lstStyle/>
          <a:p>
            <a:pPr marL="0" indent="0" algn="ctr">
              <a:lnSpc>
                <a:spcPts val="1875"/>
              </a:lnSpc>
              <a:buNone/>
            </a:pPr>
            <a:r>
              <a:rPr lang="en-US" sz="1500" dirty="0">
                <a:solidFill>
                  <a:srgbClr val="1F2937"/>
                </a:solidFill>
                <a:latin typeface="Arial"/>
                <a:cs typeface="Arial"/>
              </a:rPr>
              <a:t>AI reads the email and its attachments</a:t>
            </a:r>
            <a:endParaRPr lang="en-US" sz="1500" dirty="0"/>
          </a:p>
        </p:txBody>
      </p:sp>
      <p:sp>
        <p:nvSpPr>
          <p:cNvPr id="7" name="Shape 7"/>
          <p:cNvSpPr/>
          <p:nvPr/>
        </p:nvSpPr>
        <p:spPr>
          <a:xfrm>
            <a:off x="5953125" y="2037159"/>
            <a:ext cx="285750" cy="285750"/>
          </a:xfrm>
          <a:prstGeom prst="rightArrow">
            <a:avLst/>
          </a:prstGeom>
          <a:solidFill>
            <a:srgbClr val="9CA3AF"/>
          </a:solidFill>
          <a:ln w="0">
            <a:noFill/>
          </a:ln>
        </p:spPr>
      </p:sp>
      <p:sp>
        <p:nvSpPr>
          <p:cNvPr id="8" name="Shape 8"/>
          <p:cNvSpPr/>
          <p:nvPr/>
        </p:nvSpPr>
        <p:spPr>
          <a:xfrm>
            <a:off x="6353175" y="1532334"/>
            <a:ext cx="2386012" cy="1295400"/>
          </a:xfrm>
          <a:prstGeom prst="roundRect">
            <a:avLst>
              <a:gd name="adj" fmla="val 7352"/>
            </a:avLst>
          </a:prstGeom>
          <a:solidFill>
            <a:srgbClr val="E8EDF4"/>
          </a:solidFill>
          <a:ln w="9525">
            <a:solidFill>
              <a:srgbClr val="1E4E8C"/>
            </a:solidFill>
          </a:ln>
        </p:spPr>
        <p:txBody>
          <a:bodyPr wrap="square" lIns="161925" tIns="142875" rIns="161925" bIns="142875" anchor="ctr" rtlCol="0">
            <a:noAutofit/>
          </a:bodyPr>
          <a:lstStyle/>
          <a:p>
            <a:pPr marL="0" indent="0" algn="ctr">
              <a:lnSpc>
                <a:spcPts val="1875"/>
              </a:lnSpc>
              <a:buNone/>
            </a:pPr>
            <a:r>
              <a:rPr lang="en-US" sz="1500" dirty="0">
                <a:solidFill>
                  <a:srgbClr val="1F2937"/>
                </a:solidFill>
                <a:latin typeface="Arial"/>
                <a:cs typeface="Arial"/>
              </a:rPr>
              <a:t>Suggests team, policy number, and amount, and says why</a:t>
            </a:r>
            <a:endParaRPr lang="en-US" sz="1500" dirty="0"/>
          </a:p>
        </p:txBody>
      </p:sp>
      <p:sp>
        <p:nvSpPr>
          <p:cNvPr id="9" name="Shape 9"/>
          <p:cNvSpPr/>
          <p:nvPr/>
        </p:nvSpPr>
        <p:spPr>
          <a:xfrm>
            <a:off x="8853488" y="2037159"/>
            <a:ext cx="285750" cy="285750"/>
          </a:xfrm>
          <a:prstGeom prst="rightArrow">
            <a:avLst/>
          </a:prstGeom>
          <a:solidFill>
            <a:srgbClr val="9CA3AF"/>
          </a:solidFill>
          <a:ln w="0">
            <a:noFill/>
          </a:ln>
        </p:spPr>
      </p:sp>
      <p:sp>
        <p:nvSpPr>
          <p:cNvPr id="10" name="Shape 10"/>
          <p:cNvSpPr/>
          <p:nvPr/>
        </p:nvSpPr>
        <p:spPr>
          <a:xfrm>
            <a:off x="9253538" y="1532334"/>
            <a:ext cx="2386012" cy="1295400"/>
          </a:xfrm>
          <a:prstGeom prst="roundRect">
            <a:avLst>
              <a:gd name="adj" fmla="val 7352"/>
            </a:avLst>
          </a:prstGeom>
          <a:solidFill>
            <a:srgbClr val="E8EDF4"/>
          </a:solidFill>
          <a:ln w="9525">
            <a:solidFill>
              <a:srgbClr val="1E4E8C"/>
            </a:solidFill>
          </a:ln>
        </p:spPr>
        <p:txBody>
          <a:bodyPr wrap="square" lIns="161925" tIns="142875" rIns="161925" bIns="142875" anchor="ctr" rtlCol="0">
            <a:noAutofit/>
          </a:bodyPr>
          <a:lstStyle/>
          <a:p>
            <a:pPr marL="0" indent="0" algn="ctr">
              <a:lnSpc>
                <a:spcPts val="1875"/>
              </a:lnSpc>
              <a:buNone/>
            </a:pPr>
            <a:r>
              <a:rPr lang="en-US" sz="1500" dirty="0">
                <a:solidFill>
                  <a:srgbClr val="1F2937"/>
                </a:solidFill>
                <a:latin typeface="Arial"/>
                <a:cs typeface="Arial"/>
              </a:rPr>
              <a:t>Handler accepts or changes it</a:t>
            </a:r>
            <a:endParaRPr lang="en-US" sz="1500" dirty="0"/>
          </a:p>
        </p:txBody>
      </p:sp>
      <p:sp>
        <p:nvSpPr>
          <p:cNvPr id="11" name="TextBox 11"/>
          <p:cNvSpPr txBox="1"/>
          <p:nvPr/>
        </p:nvSpPr>
        <p:spPr>
          <a:xfrm>
            <a:off x="552450" y="3075384"/>
            <a:ext cx="11201400" cy="1657350"/>
          </a:xfrm>
          <a:prstGeom prst="rect">
            <a:avLst/>
          </a:prstGeom>
          <a:noFill/>
          <a:ln w="0">
            <a:noFill/>
          </a:ln>
        </p:spPr>
        <p:txBody>
          <a:bodyPr wrap="square" lIns="0" tIns="0" rIns="0" bIns="0" anchor="t" rtlCol="0">
            <a:noAutofit/>
          </a:bodyPr>
          <a:lstStyle/>
          <a:p>
            <a:pPr marL="285750" indent="-194310" algn="l">
              <a:lnSpc>
                <a:spcPts val="2250"/>
              </a:lnSpc>
              <a:buClr>
                <a:srgbClr val="1E4E8C"/>
              </a:buClr>
              <a:buFont typeface="Arial"/>
              <a:buChar char="•"/>
            </a:pPr>
            <a:r>
              <a:rPr lang="en-US" sz="1800" b="1" dirty="0">
                <a:solidFill>
                  <a:srgbClr val="1F2937"/>
                </a:solidFill>
                <a:latin typeface="Arial"/>
                <a:cs typeface="Arial"/>
              </a:rPr>
              <a:t>Tested on 600 past emails</a:t>
            </a:r>
            <a:r>
              <a:rPr lang="en-US" sz="1800" dirty="0">
                <a:solidFill>
                  <a:srgbClr val="1F2937"/>
                </a:solidFill>
                <a:latin typeface="Arial"/>
                <a:cs typeface="Arial"/>
              </a:rPr>
              <a:t> from January to June 2026, anonymized by Fabrikam IT: 540 in English, 60 in Spanish</a:t>
            </a:r>
            <a:endParaRPr lang="en-US" sz="1800" dirty="0"/>
          </a:p>
          <a:p>
            <a:pPr marL="285750" indent="-194310" algn="l">
              <a:lnSpc>
                <a:spcPts val="2250"/>
              </a:lnSpc>
              <a:spcBef>
                <a:spcPts val="900"/>
              </a:spcBef>
              <a:buClr>
                <a:srgbClr val="1E4E8C"/>
              </a:buClr>
              <a:buFont typeface="Arial"/>
              <a:buChar char="•"/>
            </a:pPr>
            <a:r>
              <a:rPr lang="en-US" sz="1800" b="1" dirty="0">
                <a:solidFill>
                  <a:srgbClr val="1F2937"/>
                </a:solidFill>
                <a:latin typeface="Arial"/>
                <a:cs typeface="Arial"/>
              </a:rPr>
              <a:t>Customer data stayed in Fabrikam's Azure tenant.</a:t>
            </a:r>
            <a:r>
              <a:rPr lang="en-US" sz="1800" dirty="0">
                <a:solidFill>
                  <a:srgbClr val="1F2937"/>
                </a:solidFill>
                <a:latin typeface="Arial"/>
                <a:cs typeface="Arial"/>
              </a:rPr>
              <a:t> Azure OpenAI in East US 2, signed off by Raj on September 30, before any emails were loaded</a:t>
            </a:r>
            <a:endParaRPr lang="en-US" sz="1800" dirty="0"/>
          </a:p>
          <a:p>
            <a:pPr marL="285750" indent="-194310" algn="l">
              <a:lnSpc>
                <a:spcPts val="2250"/>
              </a:lnSpc>
              <a:spcBef>
                <a:spcPts val="900"/>
              </a:spcBef>
              <a:buClr>
                <a:srgbClr val="1E4E8C"/>
              </a:buClr>
              <a:buFont typeface="Arial"/>
              <a:buChar char="•"/>
            </a:pPr>
            <a:r>
              <a:rPr lang="en-US" sz="1800" b="1" dirty="0">
                <a:solidFill>
                  <a:srgbClr val="1F2937"/>
                </a:solidFill>
                <a:latin typeface="Arial"/>
                <a:cs typeface="Arial"/>
              </a:rPr>
              <a:t>Not connected to live email or ClaimsHub</a:t>
            </a:r>
            <a:r>
              <a:rPr lang="en-US" sz="1800" dirty="0">
                <a:solidFill>
                  <a:srgbClr val="1F2937"/>
                </a:solidFill>
                <a:latin typeface="Arial"/>
                <a:cs typeface="Arial"/>
              </a:rPr>
              <a:t> yet. That was out of scope for the POC</a:t>
            </a:r>
            <a:endParaRPr lang="en-US" sz="1800" dirty="0"/>
          </a:p>
        </p:txBody>
      </p:sp>
      <p:sp>
        <p:nvSpPr>
          <p:cNvPr id="12" name="TextBox 12"/>
          <p:cNvSpPr txBox="1"/>
          <p:nvPr/>
        </p:nvSpPr>
        <p:spPr>
          <a:xfrm>
            <a:off x="552450" y="6454229"/>
            <a:ext cx="1736949"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Contoso Consulting · Confidential</a:t>
            </a:r>
            <a:endParaRPr lang="en-US" sz="900" dirty="0"/>
          </a:p>
        </p:txBody>
      </p:sp>
      <p:sp>
        <p:nvSpPr>
          <p:cNvPr id="13" name="TextBox 13"/>
          <p:cNvSpPr txBox="1"/>
          <p:nvPr/>
        </p:nvSpPr>
        <p:spPr>
          <a:xfrm>
            <a:off x="11575852" y="6454229"/>
            <a:ext cx="64972"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552450" y="361950"/>
            <a:ext cx="504825" cy="57150"/>
          </a:xfrm>
          <a:prstGeom prst="rect">
            <a:avLst/>
          </a:prstGeom>
          <a:solidFill>
            <a:srgbClr val="1E4E8C"/>
          </a:solidFill>
          <a:ln w="0">
            <a:noFill/>
          </a:ln>
        </p:spPr>
      </p:sp>
      <p:sp>
        <p:nvSpPr>
          <p:cNvPr id="3" name="TextBox 3"/>
          <p:cNvSpPr txBox="1"/>
          <p:nvPr/>
        </p:nvSpPr>
        <p:spPr>
          <a:xfrm>
            <a:off x="552450" y="533400"/>
            <a:ext cx="11201400" cy="356592"/>
          </a:xfrm>
          <a:prstGeom prst="rect">
            <a:avLst/>
          </a:prstGeom>
          <a:noFill/>
          <a:ln w="0">
            <a:noFill/>
          </a:ln>
        </p:spPr>
        <p:txBody>
          <a:bodyPr wrap="square" lIns="0" tIns="0" rIns="0" bIns="0" anchor="t" rtlCol="0">
            <a:noAutofit/>
          </a:bodyPr>
          <a:lstStyle/>
          <a:p>
            <a:pPr marL="0" indent="0" algn="l">
              <a:lnSpc>
                <a:spcPts val="2808"/>
              </a:lnSpc>
              <a:buNone/>
            </a:pPr>
            <a:r>
              <a:rPr lang="en-US" sz="2400" b="1" dirty="0">
                <a:solidFill>
                  <a:srgbClr val="1F2937"/>
                </a:solidFill>
                <a:latin typeface="Arial"/>
                <a:cs typeface="Arial"/>
              </a:rPr>
              <a:t>Four of five criteria met; claimed amounts fell short at 88.2%</a:t>
            </a:r>
            <a:endParaRPr lang="en-US" sz="2400" dirty="0"/>
          </a:p>
        </p:txBody>
      </p:sp>
      <p:graphicFrame>
        <p:nvGraphicFramePr>
          <p:cNvPr id="4" name="Table 4"/>
          <p:cNvGraphicFramePr>
            <a:graphicFrameLocks noGrp="1"/>
          </p:cNvGraphicFramePr>
          <p:nvPr/>
        </p:nvGraphicFramePr>
        <p:xfrm>
          <a:off x="552450" y="1175742"/>
          <a:ext cx="11087100" cy="2547938"/>
        </p:xfrm>
        <a:graphic>
          <a:graphicData uri="http://schemas.openxmlformats.org/drawingml/2006/table">
            <a:tbl>
              <a:tblPr firstRow="1" bandRow="1">
                <a:tableStyleId>{2D5ABB26-0587-4C30-8999-92F81FD0307C}</a:tableStyleId>
              </a:tblPr>
              <a:tblGrid>
                <a:gridCol w="4739283"/>
                <a:gridCol w="1299567"/>
                <a:gridCol w="3828752"/>
                <a:gridCol w="1219498"/>
              </a:tblGrid>
              <a:tr h="416719">
                <a:tc>
                  <a:txBody>
                    <a:bodyPr wrap="square" lIns="0" tIns="0" rIns="0" bIns="0" anchor="t" rtlCol="0">
                      <a:noAutofit/>
                    </a:bodyPr>
                    <a:lstStyle/>
                    <a:p>
                      <a:pPr marL="0" indent="0" algn="l">
                        <a:lnSpc>
                          <a:spcPts val="1781"/>
                        </a:lnSpc>
                        <a:buNone/>
                      </a:pPr>
                      <a:r>
                        <a:rPr lang="en-US" sz="1425" b="1" dirty="0">
                          <a:solidFill>
                            <a:srgbClr val="FFFFFF"/>
                          </a:solidFill>
                          <a:latin typeface="Arial"/>
                          <a:cs typeface="Arial"/>
                        </a:rPr>
                        <a:t>Criterion</a:t>
                      </a:r>
                      <a:endParaRPr lang="en-US" sz="1425" dirty="0"/>
                    </a:p>
                  </a:txBody>
                  <a:tcPr marL="123825" marR="123825" marT="95250" marB="95250" anchor="ctr">
                    <a:lnL w="0">
                      <a:noFill/>
                    </a:lnL>
                    <a:lnR w="0">
                      <a:noFill/>
                    </a:lnR>
                    <a:lnT w="0">
                      <a:noFill/>
                    </a:lnT>
                    <a:lnB w="0">
                      <a:noFill/>
                    </a:lnB>
                    <a:solidFill>
                      <a:srgbClr val="1E4E8C"/>
                    </a:solidFill>
                  </a:tcPr>
                </a:tc>
                <a:tc>
                  <a:txBody>
                    <a:bodyPr wrap="square" lIns="0" tIns="0" rIns="0" bIns="0" anchor="t" rtlCol="0">
                      <a:noAutofit/>
                    </a:bodyPr>
                    <a:lstStyle/>
                    <a:p>
                      <a:pPr marL="0" indent="0" algn="l">
                        <a:lnSpc>
                          <a:spcPts val="1781"/>
                        </a:lnSpc>
                        <a:buNone/>
                      </a:pPr>
                      <a:r>
                        <a:rPr lang="en-US" sz="1425" b="1" dirty="0">
                          <a:solidFill>
                            <a:srgbClr val="FFFFFF"/>
                          </a:solidFill>
                          <a:latin typeface="Arial"/>
                          <a:cs typeface="Arial"/>
                        </a:rPr>
                        <a:t>Target</a:t>
                      </a:r>
                      <a:endParaRPr lang="en-US" sz="1425" dirty="0"/>
                    </a:p>
                  </a:txBody>
                  <a:tcPr marL="123825" marR="123825" marT="95250" marB="95250" anchor="ctr">
                    <a:lnL w="0">
                      <a:noFill/>
                    </a:lnL>
                    <a:lnR w="0">
                      <a:noFill/>
                    </a:lnR>
                    <a:lnT w="0">
                      <a:noFill/>
                    </a:lnT>
                    <a:lnB w="0">
                      <a:noFill/>
                    </a:lnB>
                    <a:solidFill>
                      <a:srgbClr val="1E4E8C"/>
                    </a:solidFill>
                  </a:tcPr>
                </a:tc>
                <a:tc>
                  <a:txBody>
                    <a:bodyPr wrap="square" lIns="0" tIns="0" rIns="0" bIns="0" anchor="t" rtlCol="0">
                      <a:noAutofit/>
                    </a:bodyPr>
                    <a:lstStyle/>
                    <a:p>
                      <a:pPr marL="0" indent="0" algn="l">
                        <a:lnSpc>
                          <a:spcPts val="1781"/>
                        </a:lnSpc>
                        <a:buNone/>
                      </a:pPr>
                      <a:r>
                        <a:rPr lang="en-US" sz="1425" b="1" dirty="0">
                          <a:solidFill>
                            <a:srgbClr val="FFFFFF"/>
                          </a:solidFill>
                          <a:latin typeface="Arial"/>
                          <a:cs typeface="Arial"/>
                        </a:rPr>
                        <a:t>Result</a:t>
                      </a:r>
                      <a:endParaRPr lang="en-US" sz="1425" dirty="0"/>
                    </a:p>
                  </a:txBody>
                  <a:tcPr marL="123825" marR="123825" marT="95250" marB="95250" anchor="ctr">
                    <a:lnL w="0">
                      <a:noFill/>
                    </a:lnL>
                    <a:lnR w="0">
                      <a:noFill/>
                    </a:lnR>
                    <a:lnT w="0">
                      <a:noFill/>
                    </a:lnT>
                    <a:lnB w="0">
                      <a:noFill/>
                    </a:lnB>
                    <a:solidFill>
                      <a:srgbClr val="1E4E8C"/>
                    </a:solidFill>
                  </a:tcPr>
                </a:tc>
                <a:tc>
                  <a:txBody>
                    <a:bodyPr wrap="square" lIns="0" tIns="0" rIns="0" bIns="0" anchor="t" rtlCol="0">
                      <a:noAutofit/>
                    </a:bodyPr>
                    <a:lstStyle/>
                    <a:p>
                      <a:pPr marL="0" indent="0" algn="l">
                        <a:lnSpc>
                          <a:spcPts val="1781"/>
                        </a:lnSpc>
                        <a:buNone/>
                      </a:pPr>
                      <a:r>
                        <a:rPr lang="en-US" sz="1425" b="1" dirty="0">
                          <a:solidFill>
                            <a:srgbClr val="FFFFFF"/>
                          </a:solidFill>
                          <a:latin typeface="Arial"/>
                          <a:cs typeface="Arial"/>
                        </a:rPr>
                        <a:t>Status</a:t>
                      </a:r>
                      <a:endParaRPr lang="en-US" sz="1425" dirty="0"/>
                    </a:p>
                  </a:txBody>
                  <a:tcPr marL="123825" marR="123825" marT="95250" marB="95250" anchor="ctr">
                    <a:lnL w="0">
                      <a:noFill/>
                    </a:lnL>
                    <a:lnR w="0">
                      <a:noFill/>
                    </a:lnR>
                    <a:lnT w="0">
                      <a:noFill/>
                    </a:lnT>
                    <a:lnB w="0">
                      <a:noFill/>
                    </a:lnB>
                    <a:solidFill>
                      <a:srgbClr val="1E4E8C"/>
                    </a:solidFill>
                  </a:tcPr>
                </a:tc>
              </a:tr>
              <a:tr h="421481">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Routed to the right team</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 90%</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92.5% (555 of 600)</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b="1" dirty="0">
                          <a:solidFill>
                            <a:srgbClr val="15803D"/>
                          </a:solidFill>
                          <a:latin typeface="Arial"/>
                          <a:cs typeface="Arial"/>
                        </a:rPr>
                        <a:t>Met</a:t>
                      </a:r>
                      <a:endParaRPr lang="en-US" sz="1425" dirty="0"/>
                    </a:p>
                  </a:txBody>
                  <a:tcPr marL="123825" marR="123825" marT="95250" marB="104775" anchor="ctr">
                    <a:lnL w="0">
                      <a:noFill/>
                    </a:lnL>
                    <a:lnR w="0">
                      <a:noFill/>
                    </a:lnR>
                    <a:lnT w="0">
                      <a:noFill/>
                    </a:lnT>
                    <a:lnB w="9525">
                      <a:solidFill>
                        <a:srgbClr val="D1D5DB"/>
                      </a:solidFill>
                    </a:lnB>
                    <a:noFill/>
                  </a:tcPr>
                </a:tc>
              </a:tr>
              <a:tr h="426244">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Policy number read correctly</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 95%</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97.8% (587 of 600)</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b="1" dirty="0">
                          <a:solidFill>
                            <a:srgbClr val="15803D"/>
                          </a:solidFill>
                          <a:latin typeface="Arial"/>
                          <a:cs typeface="Arial"/>
                        </a:rPr>
                        <a:t>Met</a:t>
                      </a:r>
                      <a:endParaRPr lang="en-US" sz="1425" dirty="0"/>
                    </a:p>
                  </a:txBody>
                  <a:tcPr marL="123825" marR="123825" marT="95250" marB="104775" anchor="ctr">
                    <a:lnL w="0">
                      <a:noFill/>
                    </a:lnL>
                    <a:lnR w="0">
                      <a:noFill/>
                    </a:lnR>
                    <a:lnT w="0">
                      <a:noFill/>
                    </a:lnT>
                    <a:lnB w="9525">
                      <a:solidFill>
                        <a:srgbClr val="D1D5DB"/>
                      </a:solidFill>
                    </a:lnB>
                    <a:noFill/>
                  </a:tcPr>
                </a:tc>
              </a:tr>
              <a:tr h="426244">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Claimed amount read correctly</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 95%</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88.2% (300 of 340)</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b="1" dirty="0">
                          <a:solidFill>
                            <a:srgbClr val="B91C1C"/>
                          </a:solidFill>
                          <a:latin typeface="Arial"/>
                          <a:cs typeface="Arial"/>
                        </a:rPr>
                        <a:t>Not met</a:t>
                      </a:r>
                      <a:endParaRPr lang="en-US" sz="1425" dirty="0"/>
                    </a:p>
                  </a:txBody>
                  <a:tcPr marL="123825" marR="123825" marT="95250" marB="104775" anchor="ctr">
                    <a:lnL w="0">
                      <a:noFill/>
                    </a:lnL>
                    <a:lnR w="0">
                      <a:noFill/>
                    </a:lnR>
                    <a:lnT w="0">
                      <a:noFill/>
                    </a:lnT>
                    <a:lnB w="9525">
                      <a:solidFill>
                        <a:srgbClr val="D1D5DB"/>
                      </a:solidFill>
                    </a:lnB>
                    <a:noFill/>
                  </a:tcPr>
                </a:tc>
              </a:tr>
              <a:tr h="426244">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Handling time, with a handler checking</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&lt; 1 min</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41 s on average, from 6 min 10 s</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b="1" dirty="0">
                          <a:solidFill>
                            <a:srgbClr val="15803D"/>
                          </a:solidFill>
                          <a:latin typeface="Arial"/>
                          <a:cs typeface="Arial"/>
                        </a:rPr>
                        <a:t>Met</a:t>
                      </a:r>
                      <a:endParaRPr lang="en-US" sz="1425" dirty="0"/>
                    </a:p>
                  </a:txBody>
                  <a:tcPr marL="123825" marR="123825" marT="95250" marB="104775" anchor="ctr">
                    <a:lnL w="0">
                      <a:noFill/>
                    </a:lnL>
                    <a:lnR w="0">
                      <a:noFill/>
                    </a:lnR>
                    <a:lnT w="0">
                      <a:noFill/>
                    </a:lnT>
                    <a:lnB w="9525">
                      <a:solidFill>
                        <a:srgbClr val="D1D5DB"/>
                      </a:solidFill>
                    </a:lnB>
                    <a:noFill/>
                  </a:tcPr>
                </a:tc>
              </a:tr>
              <a:tr h="426244">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Customer data stays in Fabrikam's tenant</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Required</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dirty="0">
                          <a:solidFill>
                            <a:srgbClr val="1F2937"/>
                          </a:solidFill>
                          <a:latin typeface="Arial"/>
                          <a:cs typeface="Arial"/>
                        </a:rPr>
                        <a:t>Signed off by Raj, September 30</a:t>
                      </a:r>
                      <a:endParaRPr lang="en-US" sz="1425" dirty="0"/>
                    </a:p>
                  </a:txBody>
                  <a:tcPr marL="123825" marR="123825" marT="95250" marB="104775" anchor="ctr">
                    <a:lnL w="0">
                      <a:noFill/>
                    </a:lnL>
                    <a:lnR w="0">
                      <a:noFill/>
                    </a:lnR>
                    <a:lnT w="0">
                      <a:noFill/>
                    </a:lnT>
                    <a:lnB w="9525">
                      <a:solidFill>
                        <a:srgbClr val="D1D5DB"/>
                      </a:solidFill>
                    </a:lnB>
                    <a:noFill/>
                  </a:tcPr>
                </a:tc>
                <a:tc>
                  <a:txBody>
                    <a:bodyPr wrap="square" lIns="0" tIns="0" rIns="0" bIns="0" anchor="t" rtlCol="0">
                      <a:noAutofit/>
                    </a:bodyPr>
                    <a:lstStyle/>
                    <a:p>
                      <a:pPr marL="0" indent="0" algn="l">
                        <a:lnSpc>
                          <a:spcPts val="1781"/>
                        </a:lnSpc>
                        <a:buNone/>
                      </a:pPr>
                      <a:r>
                        <a:rPr lang="en-US" sz="1425" b="1" dirty="0">
                          <a:solidFill>
                            <a:srgbClr val="15803D"/>
                          </a:solidFill>
                          <a:latin typeface="Arial"/>
                          <a:cs typeface="Arial"/>
                        </a:rPr>
                        <a:t>Met</a:t>
                      </a:r>
                      <a:endParaRPr lang="en-US" sz="1425" dirty="0"/>
                    </a:p>
                  </a:txBody>
                  <a:tcPr marL="123825" marR="123825" marT="95250" marB="104775" anchor="ctr">
                    <a:lnL w="0">
                      <a:noFill/>
                    </a:lnL>
                    <a:lnR w="0">
                      <a:noFill/>
                    </a:lnR>
                    <a:lnT w="0">
                      <a:noFill/>
                    </a:lnT>
                    <a:lnB w="9525">
                      <a:solidFill>
                        <a:srgbClr val="D1D5DB"/>
                      </a:solidFill>
                    </a:lnB>
                    <a:noFill/>
                  </a:tcPr>
                </a:tc>
              </a:tr>
            </a:tbl>
          </a:graphicData>
        </a:graphic>
      </p:graphicFrame>
      <p:sp>
        <p:nvSpPr>
          <p:cNvPr id="5" name="TextBox 5"/>
          <p:cNvSpPr txBox="1"/>
          <p:nvPr/>
        </p:nvSpPr>
        <p:spPr>
          <a:xfrm>
            <a:off x="552450" y="5858917"/>
            <a:ext cx="11201400" cy="332333"/>
          </a:xfrm>
          <a:prstGeom prst="rect">
            <a:avLst/>
          </a:prstGeom>
          <a:noFill/>
          <a:ln w="0">
            <a:noFill/>
          </a:ln>
        </p:spPr>
        <p:txBody>
          <a:bodyPr wrap="square" lIns="0" tIns="171450" rIns="0" bIns="0" anchor="t" rtlCol="0">
            <a:noAutofit/>
          </a:bodyPr>
          <a:lstStyle/>
          <a:p>
            <a:pPr marL="0" indent="0" algn="l">
              <a:lnSpc>
                <a:spcPts val="1268"/>
              </a:lnSpc>
              <a:buNone/>
            </a:pPr>
            <a:r>
              <a:rPr lang="en-US" sz="975" dirty="0">
                <a:solidFill>
                  <a:srgbClr val="6B7280"/>
                </a:solidFill>
                <a:latin typeface="Arial"/>
                <a:cs typeface="Arial"/>
              </a:rPr>
              <a:t>Source: POC test on 600 anonymized emails labeled by Fabrikam's intake team. Claimed amount: the 340 emails that state one.</a:t>
            </a:r>
            <a:endParaRPr lang="en-US" sz="975" dirty="0"/>
          </a:p>
        </p:txBody>
      </p:sp>
      <p:sp>
        <p:nvSpPr>
          <p:cNvPr id="6" name="TextBox 6"/>
          <p:cNvSpPr txBox="1"/>
          <p:nvPr/>
        </p:nvSpPr>
        <p:spPr>
          <a:xfrm>
            <a:off x="552450" y="6454229"/>
            <a:ext cx="1736949"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Contoso Consulting · Confidential</a:t>
            </a:r>
            <a:endParaRPr lang="en-US" sz="900" dirty="0"/>
          </a:p>
        </p:txBody>
      </p:sp>
      <p:sp>
        <p:nvSpPr>
          <p:cNvPr id="7" name="TextBox 7"/>
          <p:cNvSpPr txBox="1"/>
          <p:nvPr/>
        </p:nvSpPr>
        <p:spPr>
          <a:xfrm>
            <a:off x="11575852" y="6454229"/>
            <a:ext cx="64972"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552450" y="361950"/>
            <a:ext cx="504825" cy="57150"/>
          </a:xfrm>
          <a:prstGeom prst="rect">
            <a:avLst/>
          </a:prstGeom>
          <a:solidFill>
            <a:srgbClr val="1E4E8C"/>
          </a:solidFill>
          <a:ln w="0">
            <a:noFill/>
          </a:ln>
        </p:spPr>
      </p:sp>
      <p:sp>
        <p:nvSpPr>
          <p:cNvPr id="3" name="TextBox 3"/>
          <p:cNvSpPr txBox="1"/>
          <p:nvPr/>
        </p:nvSpPr>
        <p:spPr>
          <a:xfrm>
            <a:off x="552450" y="533400"/>
            <a:ext cx="11201400" cy="713184"/>
          </a:xfrm>
          <a:prstGeom prst="rect">
            <a:avLst/>
          </a:prstGeom>
          <a:noFill/>
          <a:ln w="0">
            <a:noFill/>
          </a:ln>
        </p:spPr>
        <p:txBody>
          <a:bodyPr wrap="square" lIns="0" tIns="0" rIns="0" bIns="0" anchor="t" rtlCol="0">
            <a:noAutofit/>
          </a:bodyPr>
          <a:lstStyle/>
          <a:p>
            <a:pPr marL="0" indent="0" algn="l">
              <a:lnSpc>
                <a:spcPts val="2808"/>
              </a:lnSpc>
              <a:buNone/>
            </a:pPr>
            <a:r>
              <a:rPr lang="en-US" sz="2400" b="1" dirty="0">
                <a:solidFill>
                  <a:srgbClr val="1F2937"/>
                </a:solidFill>
                <a:latin typeface="Arial"/>
                <a:cs typeface="Arial"/>
              </a:rPr>
              <a:t>With the suggestion and its reason next to the email, handlers took 41 seconds instead of 6 minutes</a:t>
            </a:r>
            <a:endParaRPr lang="en-US" sz="2400" dirty="0"/>
          </a:p>
        </p:txBody>
      </p:sp>
      <p:sp>
        <p:nvSpPr>
          <p:cNvPr id="4" name="TextBox 4"/>
          <p:cNvSpPr txBox="1"/>
          <p:nvPr/>
        </p:nvSpPr>
        <p:spPr>
          <a:xfrm>
            <a:off x="552450" y="1532334"/>
            <a:ext cx="4525753" cy="1728788"/>
          </a:xfrm>
          <a:prstGeom prst="rect">
            <a:avLst/>
          </a:prstGeom>
          <a:noFill/>
          <a:ln w="0">
            <a:noFill/>
          </a:ln>
        </p:spPr>
        <p:txBody>
          <a:bodyPr wrap="square" lIns="0" tIns="0" rIns="0" bIns="0" anchor="t" rtlCol="0">
            <a:noAutofit/>
          </a:bodyPr>
          <a:lstStyle/>
          <a:p>
            <a:pPr marL="285750" indent="-170021" algn="l">
              <a:lnSpc>
                <a:spcPts val="1969"/>
              </a:lnSpc>
              <a:buClr>
                <a:srgbClr val="1E4E8C"/>
              </a:buClr>
              <a:buFont typeface="Arial"/>
              <a:buChar char="•"/>
            </a:pPr>
            <a:r>
              <a:rPr lang="en-US" sz="1575" b="1" dirty="0">
                <a:solidFill>
                  <a:srgbClr val="1F2937"/>
                </a:solidFill>
                <a:latin typeface="Arial"/>
                <a:cs typeface="Arial"/>
              </a:rPr>
              <a:t>41 s per email</a:t>
            </a:r>
            <a:r>
              <a:rPr lang="en-US" sz="1575" dirty="0">
                <a:solidFill>
                  <a:srgbClr val="1F2937"/>
                </a:solidFill>
                <a:latin typeface="Arial"/>
                <a:cs typeface="Arial"/>
              </a:rPr>
              <a:t> on average across 150 emails, median 33 s</a:t>
            </a:r>
            <a:endParaRPr lang="en-US" sz="1575" dirty="0"/>
          </a:p>
          <a:p>
            <a:pPr marL="285750" indent="-170021" algn="l">
              <a:lnSpc>
                <a:spcPts val="1969"/>
              </a:lnSpc>
              <a:spcBef>
                <a:spcPts val="900"/>
              </a:spcBef>
              <a:buClr>
                <a:srgbClr val="1E4E8C"/>
              </a:buClr>
              <a:buFont typeface="Arial"/>
              <a:buChar char="•"/>
            </a:pPr>
            <a:r>
              <a:rPr lang="en-US" sz="1575" b="1" dirty="0">
                <a:solidFill>
                  <a:srgbClr val="1F2937"/>
                </a:solidFill>
                <a:latin typeface="Arial"/>
                <a:cs typeface="Arial"/>
              </a:rPr>
              <a:t>Handlers changed the suggested team on 11 of 150</a:t>
            </a:r>
            <a:endParaRPr lang="en-US" sz="1575" dirty="0"/>
          </a:p>
          <a:p>
            <a:pPr marL="285750" indent="-170021" algn="l">
              <a:lnSpc>
                <a:spcPts val="1969"/>
              </a:lnSpc>
              <a:spcBef>
                <a:spcPts val="900"/>
              </a:spcBef>
              <a:buClr>
                <a:srgbClr val="1E4E8C"/>
              </a:buClr>
              <a:buFont typeface="Arial"/>
              <a:buChar char="•"/>
            </a:pPr>
            <a:r>
              <a:rPr lang="en-US" sz="1575" b="1" dirty="0">
                <a:solidFill>
                  <a:srgbClr val="1F2937"/>
                </a:solidFill>
                <a:latin typeface="Arial"/>
                <a:cs typeface="Arial"/>
              </a:rPr>
              <a:t>The "Why" line</a:t>
            </a:r>
            <a:r>
              <a:rPr lang="en-US" sz="1575" dirty="0">
                <a:solidFill>
                  <a:srgbClr val="1F2937"/>
                </a:solidFill>
                <a:latin typeface="Arial"/>
                <a:cs typeface="Arial"/>
              </a:rPr>
              <a:t> is what two handlers said made them trust the suggestions</a:t>
            </a:r>
            <a:endParaRPr lang="en-US" sz="1575" dirty="0"/>
          </a:p>
        </p:txBody>
      </p:sp>
      <p:pic>
        <p:nvPicPr>
          <p:cNvPr id="5" name="Picture 5" descr="The review screen from the time study"/>
          <p:cNvPicPr>
            <a:picLocks noChangeAspect="1"/>
          </p:cNvPicPr>
          <p:nvPr/>
        </p:nvPicPr>
        <p:blipFill>
          <a:blip r:embed="rId3"/>
          <a:stretch>
            <a:fillRect/>
          </a:stretch>
        </p:blipFill>
        <p:spPr>
          <a:xfrm>
            <a:off x="5427613" y="1532334"/>
            <a:ext cx="6211491" cy="3903464"/>
          </a:xfrm>
          <a:prstGeom prst="rect">
            <a:avLst/>
          </a:prstGeom>
          <a:ln w="9525">
            <a:solidFill>
              <a:srgbClr val="D1D5DB"/>
            </a:solidFill>
          </a:ln>
        </p:spPr>
      </p:pic>
      <p:sp>
        <p:nvSpPr>
          <p:cNvPr id="6" name="TextBox 6"/>
          <p:cNvSpPr txBox="1"/>
          <p:nvPr/>
        </p:nvSpPr>
        <p:spPr>
          <a:xfrm>
            <a:off x="5427613" y="5531048"/>
            <a:ext cx="6326088" cy="185738"/>
          </a:xfrm>
          <a:prstGeom prst="rect">
            <a:avLst/>
          </a:prstGeom>
          <a:noFill/>
          <a:ln w="0">
            <a:noFill/>
          </a:ln>
        </p:spPr>
        <p:txBody>
          <a:bodyPr wrap="square" lIns="0" tIns="0" rIns="0" bIns="0" anchor="t" rtlCol="0">
            <a:noAutofit/>
          </a:bodyPr>
          <a:lstStyle/>
          <a:p>
            <a:pPr marL="0" indent="0" algn="l">
              <a:lnSpc>
                <a:spcPts val="1462"/>
              </a:lnSpc>
              <a:buNone/>
            </a:pPr>
            <a:r>
              <a:rPr lang="en-US" sz="1125" dirty="0">
                <a:solidFill>
                  <a:srgbClr val="6B7280"/>
                </a:solidFill>
                <a:latin typeface="Arial"/>
                <a:cs typeface="Arial"/>
              </a:rPr>
              <a:t>The review screen from the time study</a:t>
            </a:r>
            <a:endParaRPr lang="en-US" sz="1125" dirty="0"/>
          </a:p>
        </p:txBody>
      </p:sp>
      <p:sp>
        <p:nvSpPr>
          <p:cNvPr id="7" name="TextBox 7"/>
          <p:cNvSpPr txBox="1"/>
          <p:nvPr/>
        </p:nvSpPr>
        <p:spPr>
          <a:xfrm>
            <a:off x="552450" y="6454229"/>
            <a:ext cx="1736949"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Contoso Consulting · Confidential</a:t>
            </a:r>
            <a:endParaRPr lang="en-US" sz="900" dirty="0"/>
          </a:p>
        </p:txBody>
      </p:sp>
      <p:sp>
        <p:nvSpPr>
          <p:cNvPr id="8" name="TextBox 8"/>
          <p:cNvSpPr txBox="1"/>
          <p:nvPr/>
        </p:nvSpPr>
        <p:spPr>
          <a:xfrm>
            <a:off x="11575852" y="6454229"/>
            <a:ext cx="64972"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552450" y="361950"/>
            <a:ext cx="504825" cy="57150"/>
          </a:xfrm>
          <a:prstGeom prst="rect">
            <a:avLst/>
          </a:prstGeom>
          <a:solidFill>
            <a:srgbClr val="1E4E8C"/>
          </a:solidFill>
          <a:ln w="0">
            <a:noFill/>
          </a:ln>
        </p:spPr>
      </p:sp>
      <p:sp>
        <p:nvSpPr>
          <p:cNvPr id="3" name="TextBox 3"/>
          <p:cNvSpPr txBox="1"/>
          <p:nvPr/>
        </p:nvSpPr>
        <p:spPr>
          <a:xfrm>
            <a:off x="552450" y="533400"/>
            <a:ext cx="11201400" cy="356592"/>
          </a:xfrm>
          <a:prstGeom prst="rect">
            <a:avLst/>
          </a:prstGeom>
          <a:noFill/>
          <a:ln w="0">
            <a:noFill/>
          </a:ln>
        </p:spPr>
        <p:txBody>
          <a:bodyPr wrap="square" lIns="0" tIns="0" rIns="0" bIns="0" anchor="t" rtlCol="0">
            <a:noAutofit/>
          </a:bodyPr>
          <a:lstStyle/>
          <a:p>
            <a:pPr marL="0" indent="0" algn="l">
              <a:lnSpc>
                <a:spcPts val="2808"/>
              </a:lnSpc>
              <a:buNone/>
            </a:pPr>
            <a:r>
              <a:rPr lang="en-US" sz="2400" b="1" dirty="0">
                <a:solidFill>
                  <a:srgbClr val="1F2937"/>
                </a:solidFill>
                <a:latin typeface="Arial"/>
                <a:cs typeface="Arial"/>
              </a:rPr>
              <a:t>Two gaps to fix before going live: scanned claim forms and Spanish emails</a:t>
            </a:r>
            <a:endParaRPr lang="en-US" sz="2400" dirty="0"/>
          </a:p>
        </p:txBody>
      </p:sp>
      <p:sp>
        <p:nvSpPr>
          <p:cNvPr id="4" name="Shape 4"/>
          <p:cNvSpPr/>
          <p:nvPr/>
        </p:nvSpPr>
        <p:spPr>
          <a:xfrm>
            <a:off x="552450" y="1510903"/>
            <a:ext cx="5353050" cy="28575"/>
          </a:xfrm>
          <a:prstGeom prst="rect">
            <a:avLst/>
          </a:prstGeom>
          <a:solidFill>
            <a:srgbClr val="1E4E8C"/>
          </a:solidFill>
          <a:ln w="0">
            <a:noFill/>
          </a:ln>
        </p:spPr>
      </p:sp>
      <p:sp>
        <p:nvSpPr>
          <p:cNvPr id="5" name="TextBox 5"/>
          <p:cNvSpPr txBox="1"/>
          <p:nvPr/>
        </p:nvSpPr>
        <p:spPr>
          <a:xfrm>
            <a:off x="552450" y="1175742"/>
            <a:ext cx="5460111" cy="363736"/>
          </a:xfrm>
          <a:prstGeom prst="rect">
            <a:avLst/>
          </a:prstGeom>
          <a:noFill/>
          <a:ln w="0">
            <a:noFill/>
          </a:ln>
        </p:spPr>
        <p:txBody>
          <a:bodyPr wrap="square" lIns="0" tIns="0" rIns="0" bIns="123825" anchor="t" rtlCol="0">
            <a:noAutofit/>
          </a:bodyPr>
          <a:lstStyle/>
          <a:p>
            <a:pPr marL="0" indent="0" algn="l">
              <a:lnSpc>
                <a:spcPts val="1890"/>
              </a:lnSpc>
              <a:buNone/>
            </a:pPr>
            <a:r>
              <a:rPr lang="en-US" sz="1575" b="1" dirty="0">
                <a:solidFill>
                  <a:srgbClr val="1E4E8C"/>
                </a:solidFill>
                <a:latin typeface="Arial"/>
                <a:cs typeface="Arial"/>
              </a:rPr>
              <a:t>Scanned claim forms</a:t>
            </a:r>
            <a:endParaRPr lang="en-US" sz="1575" dirty="0"/>
          </a:p>
        </p:txBody>
      </p:sp>
      <p:sp>
        <p:nvSpPr>
          <p:cNvPr id="6" name="TextBox 6"/>
          <p:cNvSpPr txBox="1"/>
          <p:nvPr/>
        </p:nvSpPr>
        <p:spPr>
          <a:xfrm>
            <a:off x="552450" y="1672828"/>
            <a:ext cx="5460111" cy="1419225"/>
          </a:xfrm>
          <a:prstGeom prst="rect">
            <a:avLst/>
          </a:prstGeom>
          <a:noFill/>
          <a:ln w="0">
            <a:noFill/>
          </a:ln>
        </p:spPr>
        <p:txBody>
          <a:bodyPr wrap="square" lIns="0" tIns="0" rIns="0" bIns="0" anchor="t" rtlCol="0">
            <a:noAutofit/>
          </a:bodyPr>
          <a:lstStyle/>
          <a:p>
            <a:pPr marL="285750" indent="-161925" algn="l">
              <a:lnSpc>
                <a:spcPts val="1875"/>
              </a:lnSpc>
              <a:buClr>
                <a:srgbClr val="1E4E8C"/>
              </a:buClr>
              <a:buFont typeface="Arial"/>
              <a:buChar char="•"/>
            </a:pPr>
            <a:r>
              <a:rPr lang="en-US" sz="1500" dirty="0">
                <a:solidFill>
                  <a:srgbClr val="1F2937"/>
                </a:solidFill>
                <a:latin typeface="Arial"/>
                <a:cs typeface="Arial"/>
              </a:rPr>
              <a:t>29 of the 40 claimed-amount misses were scanned or handwritten forms</a:t>
            </a:r>
            <a:endParaRPr lang="en-US" sz="1500" dirty="0"/>
          </a:p>
          <a:p>
            <a:pPr marL="285750" indent="-161925" algn="l">
              <a:lnSpc>
                <a:spcPts val="1875"/>
              </a:lnSpc>
              <a:spcBef>
                <a:spcPts val="900"/>
              </a:spcBef>
              <a:buClr>
                <a:srgbClr val="1E4E8C"/>
              </a:buClr>
              <a:buFont typeface="Arial"/>
              <a:buChar char="•"/>
            </a:pPr>
            <a:r>
              <a:rPr lang="en-US" sz="1500" dirty="0">
                <a:solidFill>
                  <a:srgbClr val="1F2937"/>
                </a:solidFill>
                <a:latin typeface="Arial"/>
                <a:cs typeface="Arial"/>
              </a:rPr>
              <a:t>The other 11 had more than one amount, or a range</a:t>
            </a:r>
            <a:endParaRPr lang="en-US" sz="1500" dirty="0"/>
          </a:p>
          <a:p>
            <a:pPr marL="285750" indent="-161925" algn="l">
              <a:lnSpc>
                <a:spcPts val="1875"/>
              </a:lnSpc>
              <a:spcBef>
                <a:spcPts val="900"/>
              </a:spcBef>
              <a:buClr>
                <a:srgbClr val="1E4E8C"/>
              </a:buClr>
              <a:buFont typeface="Arial"/>
              <a:buChar char="•"/>
            </a:pPr>
            <a:r>
              <a:rPr lang="en-US" sz="1500" b="1" dirty="0">
                <a:solidFill>
                  <a:srgbClr val="1F2937"/>
                </a:solidFill>
                <a:latin typeface="Arial"/>
                <a:cs typeface="Arial"/>
              </a:rPr>
              <a:t>Fix:</a:t>
            </a:r>
            <a:r>
              <a:rPr lang="en-US" sz="1500" dirty="0">
                <a:solidFill>
                  <a:srgbClr val="1F2937"/>
                </a:solidFill>
                <a:latin typeface="Arial"/>
                <a:cs typeface="Arial"/>
              </a:rPr>
              <a:t> add OCR (Azure AI Document Intelligence) before the AI reads them, then retest</a:t>
            </a:r>
            <a:endParaRPr lang="en-US" sz="1500" dirty="0"/>
          </a:p>
        </p:txBody>
      </p:sp>
      <p:sp>
        <p:nvSpPr>
          <p:cNvPr id="7" name="Shape 7"/>
          <p:cNvSpPr/>
          <p:nvPr/>
        </p:nvSpPr>
        <p:spPr>
          <a:xfrm>
            <a:off x="6286500" y="1510903"/>
            <a:ext cx="5353050" cy="28575"/>
          </a:xfrm>
          <a:prstGeom prst="rect">
            <a:avLst/>
          </a:prstGeom>
          <a:solidFill>
            <a:srgbClr val="1E4E8C"/>
          </a:solidFill>
          <a:ln w="0">
            <a:noFill/>
          </a:ln>
        </p:spPr>
      </p:sp>
      <p:sp>
        <p:nvSpPr>
          <p:cNvPr id="8" name="TextBox 8"/>
          <p:cNvSpPr txBox="1"/>
          <p:nvPr/>
        </p:nvSpPr>
        <p:spPr>
          <a:xfrm>
            <a:off x="6286500" y="1175742"/>
            <a:ext cx="5460111" cy="363736"/>
          </a:xfrm>
          <a:prstGeom prst="rect">
            <a:avLst/>
          </a:prstGeom>
          <a:noFill/>
          <a:ln w="0">
            <a:noFill/>
          </a:ln>
        </p:spPr>
        <p:txBody>
          <a:bodyPr wrap="square" lIns="0" tIns="0" rIns="0" bIns="123825" anchor="t" rtlCol="0">
            <a:noAutofit/>
          </a:bodyPr>
          <a:lstStyle/>
          <a:p>
            <a:pPr marL="0" indent="0" algn="l">
              <a:lnSpc>
                <a:spcPts val="1890"/>
              </a:lnSpc>
              <a:buNone/>
            </a:pPr>
            <a:r>
              <a:rPr lang="en-US" sz="1575" b="1" dirty="0">
                <a:solidFill>
                  <a:srgbClr val="1E4E8C"/>
                </a:solidFill>
                <a:latin typeface="Arial"/>
                <a:cs typeface="Arial"/>
              </a:rPr>
              <a:t>Spanish emails</a:t>
            </a:r>
            <a:endParaRPr lang="en-US" sz="1575" dirty="0"/>
          </a:p>
        </p:txBody>
      </p:sp>
      <p:sp>
        <p:nvSpPr>
          <p:cNvPr id="9" name="TextBox 9"/>
          <p:cNvSpPr txBox="1"/>
          <p:nvPr/>
        </p:nvSpPr>
        <p:spPr>
          <a:xfrm>
            <a:off x="6286500" y="1672828"/>
            <a:ext cx="5460111" cy="942975"/>
          </a:xfrm>
          <a:prstGeom prst="rect">
            <a:avLst/>
          </a:prstGeom>
          <a:noFill/>
          <a:ln w="0">
            <a:noFill/>
          </a:ln>
        </p:spPr>
        <p:txBody>
          <a:bodyPr wrap="square" lIns="0" tIns="0" rIns="0" bIns="0" anchor="t" rtlCol="0">
            <a:noAutofit/>
          </a:bodyPr>
          <a:lstStyle/>
          <a:p>
            <a:pPr marL="285750" indent="-161925" algn="l">
              <a:lnSpc>
                <a:spcPts val="1875"/>
              </a:lnSpc>
              <a:buClr>
                <a:srgbClr val="1E4E8C"/>
              </a:buClr>
              <a:buFont typeface="Arial"/>
              <a:buChar char="•"/>
            </a:pPr>
            <a:r>
              <a:rPr lang="en-US" sz="1500" dirty="0">
                <a:solidFill>
                  <a:srgbClr val="1F2937"/>
                </a:solidFill>
                <a:latin typeface="Arial"/>
                <a:cs typeface="Arial"/>
              </a:rPr>
              <a:t>75.0% routed to the right team, against 94.4% for English</a:t>
            </a:r>
            <a:endParaRPr lang="en-US" sz="1500" dirty="0"/>
          </a:p>
          <a:p>
            <a:pPr marL="285750" indent="-161925" algn="l">
              <a:lnSpc>
                <a:spcPts val="1875"/>
              </a:lnSpc>
              <a:spcBef>
                <a:spcPts val="900"/>
              </a:spcBef>
              <a:buClr>
                <a:srgbClr val="1E4E8C"/>
              </a:buClr>
              <a:buFont typeface="Arial"/>
              <a:buChar char="•"/>
            </a:pPr>
            <a:r>
              <a:rPr lang="en-US" sz="1500" dirty="0">
                <a:solidFill>
                  <a:srgbClr val="1F2937"/>
                </a:solidFill>
                <a:latin typeface="Arial"/>
                <a:cs typeface="Arial"/>
              </a:rPr>
              <a:t>Only 60 Spanish emails in the test set</a:t>
            </a:r>
            <a:endParaRPr lang="en-US" sz="1500" dirty="0"/>
          </a:p>
          <a:p>
            <a:pPr marL="285750" indent="-161925" algn="l">
              <a:lnSpc>
                <a:spcPts val="1875"/>
              </a:lnSpc>
              <a:spcBef>
                <a:spcPts val="900"/>
              </a:spcBef>
              <a:buClr>
                <a:srgbClr val="1E4E8C"/>
              </a:buClr>
              <a:buFont typeface="Arial"/>
              <a:buChar char="•"/>
            </a:pPr>
            <a:r>
              <a:rPr lang="en-US" sz="1500" b="1" dirty="0">
                <a:solidFill>
                  <a:srgbClr val="1F2937"/>
                </a:solidFill>
                <a:latin typeface="Arial"/>
                <a:cs typeface="Arial"/>
              </a:rPr>
              <a:t>Fix:</a:t>
            </a:r>
            <a:r>
              <a:rPr lang="en-US" sz="1500" dirty="0">
                <a:solidFill>
                  <a:srgbClr val="1F2937"/>
                </a:solidFill>
                <a:latin typeface="Arial"/>
                <a:cs typeface="Arial"/>
              </a:rPr>
              <a:t> label 200 more Spanish emails, then retest</a:t>
            </a:r>
            <a:endParaRPr lang="en-US" sz="1500" dirty="0"/>
          </a:p>
        </p:txBody>
      </p:sp>
      <p:sp>
        <p:nvSpPr>
          <p:cNvPr id="10" name="TextBox 10"/>
          <p:cNvSpPr txBox="1"/>
          <p:nvPr/>
        </p:nvSpPr>
        <p:spPr>
          <a:xfrm>
            <a:off x="552450" y="6454229"/>
            <a:ext cx="1736949"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Contoso Consulting · Confidential</a:t>
            </a:r>
            <a:endParaRPr lang="en-US" sz="900" dirty="0"/>
          </a:p>
        </p:txBody>
      </p:sp>
      <p:sp>
        <p:nvSpPr>
          <p:cNvPr id="11" name="TextBox 11"/>
          <p:cNvSpPr txBox="1"/>
          <p:nvPr/>
        </p:nvSpPr>
        <p:spPr>
          <a:xfrm>
            <a:off x="11575852" y="6454229"/>
            <a:ext cx="64972"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552450" y="361950"/>
            <a:ext cx="504825" cy="57150"/>
          </a:xfrm>
          <a:prstGeom prst="rect">
            <a:avLst/>
          </a:prstGeom>
          <a:solidFill>
            <a:srgbClr val="1E4E8C"/>
          </a:solidFill>
          <a:ln w="0">
            <a:noFill/>
          </a:ln>
        </p:spPr>
      </p:sp>
      <p:sp>
        <p:nvSpPr>
          <p:cNvPr id="3" name="TextBox 3"/>
          <p:cNvSpPr txBox="1"/>
          <p:nvPr/>
        </p:nvSpPr>
        <p:spPr>
          <a:xfrm>
            <a:off x="552450" y="533400"/>
            <a:ext cx="11201400" cy="356592"/>
          </a:xfrm>
          <a:prstGeom prst="rect">
            <a:avLst/>
          </a:prstGeom>
          <a:noFill/>
          <a:ln w="0">
            <a:noFill/>
          </a:ln>
        </p:spPr>
        <p:txBody>
          <a:bodyPr wrap="square" lIns="0" tIns="0" rIns="0" bIns="0" anchor="t" rtlCol="0">
            <a:noAutofit/>
          </a:bodyPr>
          <a:lstStyle/>
          <a:p>
            <a:pPr marL="0" indent="0" algn="l">
              <a:lnSpc>
                <a:spcPts val="2808"/>
              </a:lnSpc>
              <a:buNone/>
            </a:pPr>
            <a:r>
              <a:rPr lang="en-US" sz="2400" b="1" dirty="0">
                <a:solidFill>
                  <a:srgbClr val="1F2937"/>
                </a:solidFill>
                <a:latin typeface="Arial"/>
                <a:cs typeface="Arial"/>
              </a:rPr>
              <a:t>An 8-week pilot on the Motor inbox, then rollout to all claim types</a:t>
            </a:r>
            <a:endParaRPr lang="en-US" sz="2400" dirty="0"/>
          </a:p>
        </p:txBody>
      </p:sp>
      <p:sp>
        <p:nvSpPr>
          <p:cNvPr id="4" name="Shape 4"/>
          <p:cNvSpPr/>
          <p:nvPr/>
        </p:nvSpPr>
        <p:spPr>
          <a:xfrm>
            <a:off x="552450" y="1510903"/>
            <a:ext cx="3441650" cy="28575"/>
          </a:xfrm>
          <a:prstGeom prst="rect">
            <a:avLst/>
          </a:prstGeom>
          <a:solidFill>
            <a:srgbClr val="1E4E8C"/>
          </a:solidFill>
          <a:ln w="0">
            <a:noFill/>
          </a:ln>
        </p:spPr>
      </p:sp>
      <p:sp>
        <p:nvSpPr>
          <p:cNvPr id="5" name="TextBox 5"/>
          <p:cNvSpPr txBox="1"/>
          <p:nvPr/>
        </p:nvSpPr>
        <p:spPr>
          <a:xfrm>
            <a:off x="552450" y="1175742"/>
            <a:ext cx="3510483" cy="363736"/>
          </a:xfrm>
          <a:prstGeom prst="rect">
            <a:avLst/>
          </a:prstGeom>
          <a:noFill/>
          <a:ln w="0">
            <a:noFill/>
          </a:ln>
        </p:spPr>
        <p:txBody>
          <a:bodyPr wrap="square" lIns="0" tIns="0" rIns="0" bIns="123825" anchor="t" rtlCol="0">
            <a:noAutofit/>
          </a:bodyPr>
          <a:lstStyle/>
          <a:p>
            <a:pPr marL="0" indent="0" algn="l">
              <a:lnSpc>
                <a:spcPts val="1890"/>
              </a:lnSpc>
              <a:buNone/>
            </a:pPr>
            <a:r>
              <a:rPr lang="en-US" sz="1575" b="1" dirty="0">
                <a:solidFill>
                  <a:srgbClr val="1E4E8C"/>
                </a:solidFill>
                <a:latin typeface="Arial"/>
                <a:cs typeface="Arial"/>
              </a:rPr>
              <a:t>Phase 1: Pilot, 8 weeks</a:t>
            </a:r>
            <a:endParaRPr lang="en-US" sz="1575" dirty="0"/>
          </a:p>
        </p:txBody>
      </p:sp>
      <p:sp>
        <p:nvSpPr>
          <p:cNvPr id="6" name="TextBox 6"/>
          <p:cNvSpPr txBox="1"/>
          <p:nvPr/>
        </p:nvSpPr>
        <p:spPr>
          <a:xfrm>
            <a:off x="552450" y="1672828"/>
            <a:ext cx="3510483" cy="2362200"/>
          </a:xfrm>
          <a:prstGeom prst="rect">
            <a:avLst/>
          </a:prstGeom>
          <a:noFill/>
          <a:ln w="0">
            <a:noFill/>
          </a:ln>
        </p:spPr>
        <p:txBody>
          <a:bodyPr wrap="square" lIns="0" tIns="0" rIns="0" bIns="0" anchor="t" rtlCol="0">
            <a:noAutofit/>
          </a:bodyPr>
          <a:lstStyle/>
          <a:p>
            <a:pPr marL="285750" indent="-161925" algn="l">
              <a:lnSpc>
                <a:spcPts val="1875"/>
              </a:lnSpc>
              <a:buClr>
                <a:srgbClr val="1E4E8C"/>
              </a:buClr>
              <a:buFont typeface="Arial"/>
              <a:buChar char="•"/>
            </a:pPr>
            <a:r>
              <a:rPr lang="en-US" sz="1500" dirty="0">
                <a:solidFill>
                  <a:srgbClr val="1F2937"/>
                </a:solidFill>
                <a:latin typeface="Arial"/>
                <a:cs typeface="Arial"/>
              </a:rPr>
              <a:t>Motor inbox only, about 43% of claim emails</a:t>
            </a:r>
            <a:endParaRPr lang="en-US" sz="1500" dirty="0"/>
          </a:p>
          <a:p>
            <a:pPr marL="285750" indent="-161925" algn="l">
              <a:lnSpc>
                <a:spcPts val="1875"/>
              </a:lnSpc>
              <a:spcBef>
                <a:spcPts val="900"/>
              </a:spcBef>
              <a:buClr>
                <a:srgbClr val="1E4E8C"/>
              </a:buClr>
              <a:buFont typeface="Arial"/>
              <a:buChar char="•"/>
            </a:pPr>
            <a:r>
              <a:rPr lang="en-US" sz="1500" dirty="0">
                <a:solidFill>
                  <a:srgbClr val="1F2937"/>
                </a:solidFill>
                <a:latin typeface="Arial"/>
                <a:cs typeface="Arial"/>
              </a:rPr>
              <a:t>Handlers check every suggestion</a:t>
            </a:r>
            <a:endParaRPr lang="en-US" sz="1500" dirty="0"/>
          </a:p>
          <a:p>
            <a:pPr marL="285750" indent="-161925" algn="l">
              <a:lnSpc>
                <a:spcPts val="1875"/>
              </a:lnSpc>
              <a:spcBef>
                <a:spcPts val="900"/>
              </a:spcBef>
              <a:buClr>
                <a:srgbClr val="1E4E8C"/>
              </a:buClr>
              <a:buFont typeface="Arial"/>
              <a:buChar char="•"/>
            </a:pPr>
            <a:r>
              <a:rPr lang="en-US" sz="1500" dirty="0">
                <a:solidFill>
                  <a:srgbClr val="1F2937"/>
                </a:solidFill>
                <a:latin typeface="Arial"/>
                <a:cs typeface="Arial"/>
              </a:rPr>
              <a:t>Add the OCR and Spanish fixes, then retest</a:t>
            </a:r>
            <a:endParaRPr lang="en-US" sz="1500" dirty="0"/>
          </a:p>
          <a:p>
            <a:pPr marL="285750" indent="-161925" algn="l">
              <a:lnSpc>
                <a:spcPts val="1875"/>
              </a:lnSpc>
              <a:spcBef>
                <a:spcPts val="900"/>
              </a:spcBef>
              <a:buClr>
                <a:srgbClr val="1E4E8C"/>
              </a:buClr>
              <a:buFont typeface="Arial"/>
              <a:buChar char="•"/>
            </a:pPr>
            <a:r>
              <a:rPr lang="en-US" sz="1500" dirty="0">
                <a:solidFill>
                  <a:srgbClr val="1F2937"/>
                </a:solidFill>
                <a:latin typeface="Arial"/>
                <a:cs typeface="Arial"/>
              </a:rPr>
              <a:t>Done when all five criteria hold on live email for 4 weeks in a row</a:t>
            </a:r>
            <a:endParaRPr lang="en-US" sz="1500" dirty="0"/>
          </a:p>
          <a:p>
            <a:pPr marL="285750" indent="-161925" algn="l">
              <a:lnSpc>
                <a:spcPts val="1875"/>
              </a:lnSpc>
              <a:spcBef>
                <a:spcPts val="900"/>
              </a:spcBef>
              <a:buClr>
                <a:srgbClr val="1E4E8C"/>
              </a:buClr>
              <a:buFont typeface="Arial"/>
              <a:buChar char="•"/>
            </a:pPr>
            <a:r>
              <a:rPr lang="en-US" sz="1500" b="1" dirty="0">
                <a:solidFill>
                  <a:srgbClr val="1F2937"/>
                </a:solidFill>
                <a:latin typeface="Arial"/>
                <a:cs typeface="Arial"/>
              </a:rPr>
              <a:t>$85,000</a:t>
            </a:r>
            <a:r>
              <a:rPr lang="en-US" sz="1500" dirty="0">
                <a:solidFill>
                  <a:srgbClr val="1F2937"/>
                </a:solidFill>
                <a:latin typeface="Arial"/>
                <a:cs typeface="Arial"/>
              </a:rPr>
              <a:t> fixed fee</a:t>
            </a:r>
            <a:endParaRPr lang="en-US" sz="1500" dirty="0"/>
          </a:p>
        </p:txBody>
      </p:sp>
      <p:sp>
        <p:nvSpPr>
          <p:cNvPr id="7" name="Shape 7"/>
          <p:cNvSpPr/>
          <p:nvPr/>
        </p:nvSpPr>
        <p:spPr>
          <a:xfrm>
            <a:off x="4375100" y="1510903"/>
            <a:ext cx="3441650" cy="28575"/>
          </a:xfrm>
          <a:prstGeom prst="rect">
            <a:avLst/>
          </a:prstGeom>
          <a:solidFill>
            <a:srgbClr val="1E4E8C"/>
          </a:solidFill>
          <a:ln w="0">
            <a:noFill/>
          </a:ln>
        </p:spPr>
      </p:sp>
      <p:sp>
        <p:nvSpPr>
          <p:cNvPr id="8" name="TextBox 8"/>
          <p:cNvSpPr txBox="1"/>
          <p:nvPr/>
        </p:nvSpPr>
        <p:spPr>
          <a:xfrm>
            <a:off x="4375100" y="1175742"/>
            <a:ext cx="3510483" cy="363736"/>
          </a:xfrm>
          <a:prstGeom prst="rect">
            <a:avLst/>
          </a:prstGeom>
          <a:noFill/>
          <a:ln w="0">
            <a:noFill/>
          </a:ln>
        </p:spPr>
        <p:txBody>
          <a:bodyPr wrap="square" lIns="0" tIns="0" rIns="0" bIns="123825" anchor="t" rtlCol="0">
            <a:noAutofit/>
          </a:bodyPr>
          <a:lstStyle/>
          <a:p>
            <a:pPr marL="0" indent="0" algn="l">
              <a:lnSpc>
                <a:spcPts val="1890"/>
              </a:lnSpc>
              <a:buNone/>
            </a:pPr>
            <a:r>
              <a:rPr lang="en-US" sz="1575" b="1" dirty="0">
                <a:solidFill>
                  <a:srgbClr val="1E4E8C"/>
                </a:solidFill>
                <a:latin typeface="Arial"/>
                <a:cs typeface="Arial"/>
              </a:rPr>
              <a:t>Phase 2: Rollout, 10–12 weeks</a:t>
            </a:r>
            <a:endParaRPr lang="en-US" sz="1575" dirty="0"/>
          </a:p>
        </p:txBody>
      </p:sp>
      <p:sp>
        <p:nvSpPr>
          <p:cNvPr id="9" name="TextBox 9"/>
          <p:cNvSpPr txBox="1"/>
          <p:nvPr/>
        </p:nvSpPr>
        <p:spPr>
          <a:xfrm>
            <a:off x="4375100" y="1672828"/>
            <a:ext cx="3510483" cy="2009775"/>
          </a:xfrm>
          <a:prstGeom prst="rect">
            <a:avLst/>
          </a:prstGeom>
          <a:noFill/>
          <a:ln w="0">
            <a:noFill/>
          </a:ln>
        </p:spPr>
        <p:txBody>
          <a:bodyPr wrap="square" lIns="0" tIns="0" rIns="0" bIns="0" anchor="t" rtlCol="0">
            <a:noAutofit/>
          </a:bodyPr>
          <a:lstStyle/>
          <a:p>
            <a:pPr marL="285750" indent="-161925" algn="l">
              <a:lnSpc>
                <a:spcPts val="1875"/>
              </a:lnSpc>
              <a:buClr>
                <a:srgbClr val="1E4E8C"/>
              </a:buClr>
              <a:buFont typeface="Arial"/>
              <a:buChar char="•"/>
            </a:pPr>
            <a:r>
              <a:rPr lang="en-US" sz="1500" dirty="0">
                <a:solidFill>
                  <a:srgbClr val="1F2937"/>
                </a:solidFill>
                <a:latin typeface="Arial"/>
                <a:cs typeface="Arial"/>
              </a:rPr>
              <a:t>All claim types</a:t>
            </a:r>
            <a:endParaRPr lang="en-US" sz="1500" dirty="0"/>
          </a:p>
          <a:p>
            <a:pPr marL="285750" indent="-161925" algn="l">
              <a:lnSpc>
                <a:spcPts val="1875"/>
              </a:lnSpc>
              <a:spcBef>
                <a:spcPts val="900"/>
              </a:spcBef>
              <a:buClr>
                <a:srgbClr val="1E4E8C"/>
              </a:buClr>
              <a:buFont typeface="Arial"/>
              <a:buChar char="•"/>
            </a:pPr>
            <a:r>
              <a:rPr lang="en-US" sz="1500" dirty="0">
                <a:solidFill>
                  <a:srgbClr val="1F2937"/>
                </a:solidFill>
                <a:latin typeface="Arial"/>
                <a:cs typeface="Arial"/>
              </a:rPr>
              <a:t>Confirmed fields go straight into ClaimsHub, so nobody types them in</a:t>
            </a:r>
            <a:endParaRPr lang="en-US" sz="1500" dirty="0"/>
          </a:p>
          <a:p>
            <a:pPr marL="285750" indent="-161925" algn="l">
              <a:lnSpc>
                <a:spcPts val="1875"/>
              </a:lnSpc>
              <a:spcBef>
                <a:spcPts val="900"/>
              </a:spcBef>
              <a:buClr>
                <a:srgbClr val="1E4E8C"/>
              </a:buClr>
              <a:buFont typeface="Arial"/>
              <a:buChar char="•"/>
            </a:pPr>
            <a:r>
              <a:rPr lang="en-US" sz="1500" dirty="0">
                <a:solidFill>
                  <a:srgbClr val="1F2937"/>
                </a:solidFill>
                <a:latin typeface="Arial"/>
                <a:cs typeface="Arial"/>
              </a:rPr>
              <a:t>A dashboard for accuracy and volume</a:t>
            </a:r>
            <a:endParaRPr lang="en-US" sz="1500" dirty="0"/>
          </a:p>
          <a:p>
            <a:pPr marL="285750" indent="-161925" algn="l">
              <a:lnSpc>
                <a:spcPts val="1875"/>
              </a:lnSpc>
              <a:spcBef>
                <a:spcPts val="900"/>
              </a:spcBef>
              <a:buClr>
                <a:srgbClr val="1E4E8C"/>
              </a:buClr>
              <a:buFont typeface="Arial"/>
              <a:buChar char="•"/>
            </a:pPr>
            <a:r>
              <a:rPr lang="en-US" sz="1500" b="1" dirty="0">
                <a:solidFill>
                  <a:srgbClr val="1F2937"/>
                </a:solidFill>
                <a:latin typeface="Arial"/>
                <a:cs typeface="Arial"/>
              </a:rPr>
              <a:t>$140,000–180,000,</a:t>
            </a:r>
            <a:r>
              <a:rPr lang="en-US" sz="1500" dirty="0">
                <a:solidFill>
                  <a:srgbClr val="1F2937"/>
                </a:solidFill>
                <a:latin typeface="Arial"/>
                <a:cs typeface="Arial"/>
              </a:rPr>
              <a:t> firmed up after the pilot</a:t>
            </a:r>
            <a:endParaRPr lang="en-US" sz="1500" dirty="0"/>
          </a:p>
        </p:txBody>
      </p:sp>
      <p:sp>
        <p:nvSpPr>
          <p:cNvPr id="10" name="Shape 10"/>
          <p:cNvSpPr/>
          <p:nvPr/>
        </p:nvSpPr>
        <p:spPr>
          <a:xfrm>
            <a:off x="8197751" y="1510903"/>
            <a:ext cx="3441799" cy="28575"/>
          </a:xfrm>
          <a:prstGeom prst="rect">
            <a:avLst/>
          </a:prstGeom>
          <a:solidFill>
            <a:srgbClr val="1E4E8C"/>
          </a:solidFill>
          <a:ln w="0">
            <a:noFill/>
          </a:ln>
        </p:spPr>
      </p:sp>
      <p:sp>
        <p:nvSpPr>
          <p:cNvPr id="11" name="TextBox 11"/>
          <p:cNvSpPr txBox="1"/>
          <p:nvPr/>
        </p:nvSpPr>
        <p:spPr>
          <a:xfrm>
            <a:off x="8197751" y="1175742"/>
            <a:ext cx="3510635" cy="363736"/>
          </a:xfrm>
          <a:prstGeom prst="rect">
            <a:avLst/>
          </a:prstGeom>
          <a:noFill/>
          <a:ln w="0">
            <a:noFill/>
          </a:ln>
        </p:spPr>
        <p:txBody>
          <a:bodyPr wrap="square" lIns="0" tIns="0" rIns="0" bIns="123825" anchor="t" rtlCol="0">
            <a:noAutofit/>
          </a:bodyPr>
          <a:lstStyle/>
          <a:p>
            <a:pPr marL="0" indent="0" algn="l">
              <a:lnSpc>
                <a:spcPts val="1890"/>
              </a:lnSpc>
              <a:buNone/>
            </a:pPr>
            <a:r>
              <a:rPr lang="en-US" sz="1575" b="1" dirty="0">
                <a:solidFill>
                  <a:srgbClr val="1E4E8C"/>
                </a:solidFill>
                <a:latin typeface="Arial"/>
                <a:cs typeface="Arial"/>
              </a:rPr>
              <a:t>What Fabrikam provides</a:t>
            </a:r>
            <a:endParaRPr lang="en-US" sz="1575" dirty="0"/>
          </a:p>
        </p:txBody>
      </p:sp>
      <p:sp>
        <p:nvSpPr>
          <p:cNvPr id="12" name="TextBox 12"/>
          <p:cNvSpPr txBox="1"/>
          <p:nvPr/>
        </p:nvSpPr>
        <p:spPr>
          <a:xfrm>
            <a:off x="8197751" y="1672828"/>
            <a:ext cx="3510635" cy="1895475"/>
          </a:xfrm>
          <a:prstGeom prst="rect">
            <a:avLst/>
          </a:prstGeom>
          <a:noFill/>
          <a:ln w="0">
            <a:noFill/>
          </a:ln>
        </p:spPr>
        <p:txBody>
          <a:bodyPr wrap="square" lIns="0" tIns="0" rIns="0" bIns="0" anchor="t" rtlCol="0">
            <a:noAutofit/>
          </a:bodyPr>
          <a:lstStyle/>
          <a:p>
            <a:pPr marL="285750" indent="-161925" algn="l">
              <a:lnSpc>
                <a:spcPts val="1875"/>
              </a:lnSpc>
              <a:buClr>
                <a:srgbClr val="1E4E8C"/>
              </a:buClr>
              <a:buFont typeface="Arial"/>
              <a:buChar char="•"/>
            </a:pPr>
            <a:r>
              <a:rPr lang="en-US" sz="1500" b="1" dirty="0">
                <a:solidFill>
                  <a:srgbClr val="1F2937"/>
                </a:solidFill>
                <a:latin typeface="Arial"/>
                <a:cs typeface="Arial"/>
              </a:rPr>
              <a:t>IT:</a:t>
            </a:r>
            <a:r>
              <a:rPr lang="en-US" sz="1500" dirty="0">
                <a:solidFill>
                  <a:srgbClr val="1F2937"/>
                </a:solidFill>
                <a:latin typeface="Arial"/>
                <a:cs typeface="Arial"/>
              </a:rPr>
              <a:t> about 2 days a week from Raj's team, for mailbox access and Azure</a:t>
            </a:r>
            <a:endParaRPr lang="en-US" sz="1500" dirty="0"/>
          </a:p>
          <a:p>
            <a:pPr marL="285750" indent="-161925" algn="l">
              <a:lnSpc>
                <a:spcPts val="1875"/>
              </a:lnSpc>
              <a:spcBef>
                <a:spcPts val="900"/>
              </a:spcBef>
              <a:buClr>
                <a:srgbClr val="1E4E8C"/>
              </a:buClr>
              <a:buFont typeface="Arial"/>
              <a:buChar char="•"/>
            </a:pPr>
            <a:r>
              <a:rPr lang="en-US" sz="1500" b="1" dirty="0">
                <a:solidFill>
                  <a:srgbClr val="1F2937"/>
                </a:solidFill>
                <a:latin typeface="Arial"/>
                <a:cs typeface="Arial"/>
              </a:rPr>
              <a:t>Claims:</a:t>
            </a:r>
            <a:r>
              <a:rPr lang="en-US" sz="1500" dirty="0">
                <a:solidFill>
                  <a:srgbClr val="1F2937"/>
                </a:solidFill>
                <a:latin typeface="Arial"/>
                <a:cs typeface="Arial"/>
              </a:rPr>
              <a:t> 2 handlers, about 3 hours a week each, for feedback</a:t>
            </a:r>
            <a:endParaRPr lang="en-US" sz="1500" dirty="0"/>
          </a:p>
          <a:p>
            <a:pPr marL="285750" indent="-161925" algn="l">
              <a:lnSpc>
                <a:spcPts val="1875"/>
              </a:lnSpc>
              <a:spcBef>
                <a:spcPts val="900"/>
              </a:spcBef>
              <a:buClr>
                <a:srgbClr val="1E4E8C"/>
              </a:buClr>
              <a:buFont typeface="Arial"/>
              <a:buChar char="•"/>
            </a:pPr>
            <a:r>
              <a:rPr lang="en-US" sz="1500" b="1" dirty="0">
                <a:solidFill>
                  <a:srgbClr val="1F2937"/>
                </a:solidFill>
                <a:latin typeface="Arial"/>
                <a:cs typeface="Arial"/>
              </a:rPr>
              <a:t>Running cost:</a:t>
            </a:r>
            <a:r>
              <a:rPr lang="en-US" sz="1500" dirty="0">
                <a:solidFill>
                  <a:srgbClr val="1F2937"/>
                </a:solidFill>
                <a:latin typeface="Arial"/>
                <a:cs typeface="Arial"/>
              </a:rPr>
              <a:t> about $900 a year in Azure OpenAI usage at today's volume, plus OCR</a:t>
            </a:r>
            <a:endParaRPr lang="en-US" sz="1500" dirty="0"/>
          </a:p>
        </p:txBody>
      </p:sp>
      <p:sp>
        <p:nvSpPr>
          <p:cNvPr id="13" name="TextBox 13"/>
          <p:cNvSpPr txBox="1"/>
          <p:nvPr/>
        </p:nvSpPr>
        <p:spPr>
          <a:xfrm>
            <a:off x="552450" y="6454229"/>
            <a:ext cx="1736949"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Contoso Consulting · Confidential</a:t>
            </a:r>
            <a:endParaRPr lang="en-US" sz="900" dirty="0"/>
          </a:p>
        </p:txBody>
      </p:sp>
      <p:sp>
        <p:nvSpPr>
          <p:cNvPr id="14" name="TextBox 14"/>
          <p:cNvSpPr txBox="1"/>
          <p:nvPr/>
        </p:nvSpPr>
        <p:spPr>
          <a:xfrm>
            <a:off x="11575852" y="6454229"/>
            <a:ext cx="64972"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552450" y="361950"/>
            <a:ext cx="504825" cy="57150"/>
          </a:xfrm>
          <a:prstGeom prst="rect">
            <a:avLst/>
          </a:prstGeom>
          <a:solidFill>
            <a:srgbClr val="1E4E8C"/>
          </a:solidFill>
          <a:ln w="0">
            <a:noFill/>
          </a:ln>
        </p:spPr>
      </p:sp>
      <p:sp>
        <p:nvSpPr>
          <p:cNvPr id="3" name="TextBox 3"/>
          <p:cNvSpPr txBox="1"/>
          <p:nvPr/>
        </p:nvSpPr>
        <p:spPr>
          <a:xfrm>
            <a:off x="552450" y="533400"/>
            <a:ext cx="11201400" cy="713184"/>
          </a:xfrm>
          <a:prstGeom prst="rect">
            <a:avLst/>
          </a:prstGeom>
          <a:noFill/>
          <a:ln w="0">
            <a:noFill/>
          </a:ln>
        </p:spPr>
        <p:txBody>
          <a:bodyPr wrap="square" lIns="0" tIns="0" rIns="0" bIns="0" anchor="t" rtlCol="0">
            <a:noAutofit/>
          </a:bodyPr>
          <a:lstStyle/>
          <a:p>
            <a:pPr marL="0" indent="0" algn="l">
              <a:lnSpc>
                <a:spcPts val="2808"/>
              </a:lnSpc>
              <a:buNone/>
            </a:pPr>
            <a:r>
              <a:rPr lang="en-US" sz="2400" b="1" dirty="0">
                <a:solidFill>
                  <a:srgbClr val="1F2937"/>
                </a:solidFill>
                <a:latin typeface="Arial"/>
                <a:cs typeface="Arial"/>
              </a:rPr>
              <a:t>We need a go on the pilot by November 13 to start December 1 with the same team</a:t>
            </a:r>
            <a:endParaRPr lang="en-US" sz="2400" dirty="0"/>
          </a:p>
        </p:txBody>
      </p:sp>
      <p:sp>
        <p:nvSpPr>
          <p:cNvPr id="4" name="TextBox 4"/>
          <p:cNvSpPr txBox="1"/>
          <p:nvPr/>
        </p:nvSpPr>
        <p:spPr>
          <a:xfrm>
            <a:off x="552450" y="1532334"/>
            <a:ext cx="11201400" cy="1485900"/>
          </a:xfrm>
          <a:prstGeom prst="rect">
            <a:avLst/>
          </a:prstGeom>
          <a:noFill/>
          <a:ln w="0">
            <a:noFill/>
          </a:ln>
        </p:spPr>
        <p:txBody>
          <a:bodyPr wrap="square" lIns="0" tIns="0" rIns="0" bIns="0" anchor="t" rtlCol="0">
            <a:noAutofit/>
          </a:bodyPr>
          <a:lstStyle/>
          <a:p>
            <a:pPr marL="285750" indent="-285750" algn="l">
              <a:lnSpc>
                <a:spcPts val="2250"/>
              </a:lnSpc>
              <a:buClr>
                <a:srgbClr val="1E4E8C"/>
              </a:buClr>
              <a:buFont typeface="Arial"/>
              <a:buAutoNum type="arabicPeriod" startAt="1"/>
            </a:pPr>
            <a:r>
              <a:rPr lang="en-US" sz="1800" b="1" dirty="0">
                <a:solidFill>
                  <a:srgbClr val="1F2937"/>
                </a:solidFill>
                <a:latin typeface="Arial"/>
                <a:cs typeface="Arial"/>
              </a:rPr>
              <a:t>Dana:</a:t>
            </a:r>
            <a:r>
              <a:rPr lang="en-US" sz="1800" dirty="0">
                <a:solidFill>
                  <a:srgbClr val="1F2937"/>
                </a:solidFill>
                <a:latin typeface="Arial"/>
                <a:cs typeface="Arial"/>
              </a:rPr>
              <a:t> approve the 8-week pilot ($85,000) by November 13</a:t>
            </a:r>
            <a:endParaRPr lang="en-US" sz="1800" dirty="0"/>
          </a:p>
          <a:p>
            <a:pPr marL="285750" indent="-285750" algn="l">
              <a:lnSpc>
                <a:spcPts val="2250"/>
              </a:lnSpc>
              <a:spcBef>
                <a:spcPts val="900"/>
              </a:spcBef>
              <a:buClr>
                <a:srgbClr val="1E4E8C"/>
              </a:buClr>
              <a:buFont typeface="Arial"/>
              <a:buAutoNum type="arabicPeriod" startAt="1"/>
            </a:pPr>
            <a:r>
              <a:rPr lang="en-US" sz="1800" b="1" dirty="0">
                <a:solidFill>
                  <a:srgbClr val="1F2937"/>
                </a:solidFill>
                <a:latin typeface="Arial"/>
                <a:cs typeface="Arial"/>
              </a:rPr>
              <a:t>Raj:</a:t>
            </a:r>
            <a:r>
              <a:rPr lang="en-US" sz="1800" dirty="0">
                <a:solidFill>
                  <a:srgbClr val="1F2937"/>
                </a:solidFill>
                <a:latin typeface="Arial"/>
                <a:cs typeface="Arial"/>
              </a:rPr>
              <a:t> set up mailbox access through Microsoft Graph before December 1</a:t>
            </a:r>
            <a:endParaRPr lang="en-US" sz="1800" dirty="0"/>
          </a:p>
          <a:p>
            <a:pPr marL="285750" indent="-285750" algn="l">
              <a:lnSpc>
                <a:spcPts val="2250"/>
              </a:lnSpc>
              <a:spcBef>
                <a:spcPts val="900"/>
              </a:spcBef>
              <a:buClr>
                <a:srgbClr val="1E4E8C"/>
              </a:buClr>
              <a:buFont typeface="Arial"/>
              <a:buAutoNum type="arabicPeriod" startAt="1"/>
            </a:pPr>
            <a:r>
              <a:rPr lang="en-US" sz="1800" b="1" dirty="0">
                <a:solidFill>
                  <a:srgbClr val="1F2937"/>
                </a:solidFill>
                <a:latin typeface="Arial"/>
                <a:cs typeface="Arial"/>
              </a:rPr>
              <a:t>Maria:</a:t>
            </a:r>
            <a:r>
              <a:rPr lang="en-US" sz="1800" dirty="0">
                <a:solidFill>
                  <a:srgbClr val="1F2937"/>
                </a:solidFill>
                <a:latin typeface="Arial"/>
                <a:cs typeface="Arial"/>
              </a:rPr>
              <a:t> name 2 handlers for the pilot before December 1</a:t>
            </a:r>
            <a:endParaRPr lang="en-US" sz="1800" dirty="0"/>
          </a:p>
          <a:p>
            <a:pPr marL="285750" indent="-285750" algn="l">
              <a:lnSpc>
                <a:spcPts val="2250"/>
              </a:lnSpc>
              <a:spcBef>
                <a:spcPts val="900"/>
              </a:spcBef>
              <a:buClr>
                <a:srgbClr val="1E4E8C"/>
              </a:buClr>
              <a:buFont typeface="Arial"/>
              <a:buAutoNum type="arabicPeriod" startAt="1"/>
            </a:pPr>
            <a:r>
              <a:rPr lang="en-US" sz="1800" b="1" dirty="0">
                <a:solidFill>
                  <a:srgbClr val="1F2937"/>
                </a:solidFill>
                <a:latin typeface="Arial"/>
                <a:cs typeface="Arial"/>
              </a:rPr>
              <a:t>Contoso:</a:t>
            </a:r>
            <a:r>
              <a:rPr lang="en-US" sz="1800" dirty="0">
                <a:solidFill>
                  <a:srgbClr val="1F2937"/>
                </a:solidFill>
                <a:latin typeface="Arial"/>
                <a:cs typeface="Arial"/>
              </a:rPr>
              <a:t> start the pilot on December 1</a:t>
            </a:r>
            <a:endParaRPr lang="en-US" sz="1800" dirty="0"/>
          </a:p>
        </p:txBody>
      </p:sp>
      <p:sp>
        <p:nvSpPr>
          <p:cNvPr id="5" name="TextBox 5"/>
          <p:cNvSpPr txBox="1"/>
          <p:nvPr/>
        </p:nvSpPr>
        <p:spPr>
          <a:xfrm>
            <a:off x="552450" y="6454229"/>
            <a:ext cx="1736949"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Contoso Consulting · Confidential</a:t>
            </a:r>
            <a:endParaRPr lang="en-US" sz="900" dirty="0"/>
          </a:p>
        </p:txBody>
      </p:sp>
      <p:sp>
        <p:nvSpPr>
          <p:cNvPr id="6" name="TextBox 6"/>
          <p:cNvSpPr txBox="1"/>
          <p:nvPr/>
        </p:nvSpPr>
        <p:spPr>
          <a:xfrm>
            <a:off x="11575852" y="6454229"/>
            <a:ext cx="64972"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4E8C"/>
        </a:solidFill>
        <a:effectLst/>
      </p:bgPr>
    </p:bg>
    <p:spTree>
      <p:nvGrpSpPr>
        <p:cNvPr id="1" name=""/>
        <p:cNvGrpSpPr/>
        <p:nvPr/>
      </p:nvGrpSpPr>
      <p:grpSpPr>
        <a:xfrm>
          <a:off x="0" y="0"/>
          <a:ext cx="0" cy="0"/>
          <a:chOff x="0" y="0"/>
          <a:chExt cx="0" cy="0"/>
        </a:xfrm>
      </p:grpSpPr>
      <p:sp>
        <p:nvSpPr>
          <p:cNvPr id="2" name="TextBox 2"/>
          <p:cNvSpPr txBox="1"/>
          <p:nvPr/>
        </p:nvSpPr>
        <p:spPr>
          <a:xfrm>
            <a:off x="819150" y="3122712"/>
            <a:ext cx="9639300" cy="479078"/>
          </a:xfrm>
          <a:prstGeom prst="rect">
            <a:avLst/>
          </a:prstGeom>
          <a:noFill/>
          <a:ln w="0">
            <a:noFill/>
          </a:ln>
        </p:spPr>
        <p:txBody>
          <a:bodyPr wrap="square" lIns="0" tIns="0" rIns="0" bIns="0" anchor="t" rtlCol="0">
            <a:noAutofit/>
          </a:bodyPr>
          <a:lstStyle/>
          <a:p>
            <a:pPr marL="0" indent="0" algn="l">
              <a:lnSpc>
                <a:spcPts val="3773"/>
              </a:lnSpc>
              <a:buNone/>
            </a:pPr>
            <a:r>
              <a:rPr lang="en-US" sz="3225" b="1" dirty="0">
                <a:solidFill>
                  <a:srgbClr val="FFFFFF"/>
                </a:solidFill>
                <a:latin typeface="Arial"/>
                <a:cs typeface="Arial"/>
              </a:rPr>
              <a:t>Appendix</a:t>
            </a:r>
            <a:endParaRPr lang="en-US" sz="32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552450" y="361950"/>
            <a:ext cx="504825" cy="57150"/>
          </a:xfrm>
          <a:prstGeom prst="rect">
            <a:avLst/>
          </a:prstGeom>
          <a:solidFill>
            <a:srgbClr val="1E4E8C"/>
          </a:solidFill>
          <a:ln w="0">
            <a:noFill/>
          </a:ln>
        </p:spPr>
      </p:sp>
      <p:sp>
        <p:nvSpPr>
          <p:cNvPr id="3" name="TextBox 3"/>
          <p:cNvSpPr txBox="1"/>
          <p:nvPr/>
        </p:nvSpPr>
        <p:spPr>
          <a:xfrm>
            <a:off x="552450" y="533400"/>
            <a:ext cx="11201400" cy="356592"/>
          </a:xfrm>
          <a:prstGeom prst="rect">
            <a:avLst/>
          </a:prstGeom>
          <a:noFill/>
          <a:ln w="0">
            <a:noFill/>
          </a:ln>
        </p:spPr>
        <p:txBody>
          <a:bodyPr wrap="square" lIns="0" tIns="0" rIns="0" bIns="0" anchor="t" rtlCol="0">
            <a:noAutofit/>
          </a:bodyPr>
          <a:lstStyle/>
          <a:p>
            <a:pPr marL="0" indent="0" algn="l">
              <a:lnSpc>
                <a:spcPts val="2808"/>
              </a:lnSpc>
              <a:buNone/>
            </a:pPr>
            <a:r>
              <a:rPr lang="en-US" sz="2400" b="1" dirty="0">
                <a:solidFill>
                  <a:srgbClr val="1F2937"/>
                </a:solidFill>
                <a:latin typeface="Arial"/>
                <a:cs typeface="Arial"/>
              </a:rPr>
              <a:t>Routing held above 90% for every claim type except Liability, at 87.1%</a:t>
            </a:r>
            <a:endParaRPr lang="en-US" sz="2400" dirty="0"/>
          </a:p>
        </p:txBody>
      </p:sp>
      <p:pic>
        <p:nvPicPr>
          <p:cNvPr id="4" name="Picture 4" descr="Diagram"/>
          <p:cNvPicPr>
            <a:picLocks noChangeAspect="1"/>
          </p:cNvPicPr>
          <p:nvPr/>
        </p:nvPicPr>
        <p:blipFill>
          <a:blip r:embed="rId3"/>
          <a:stretch>
            <a:fillRect/>
          </a:stretch>
        </p:blipFill>
        <p:spPr>
          <a:xfrm>
            <a:off x="552450" y="1175742"/>
            <a:ext cx="10477500" cy="2857500"/>
          </a:xfrm>
          <a:prstGeom prst="rect">
            <a:avLst/>
          </a:prstGeom>
        </p:spPr>
      </p:pic>
      <p:sp>
        <p:nvSpPr>
          <p:cNvPr id="5" name="TextBox 5"/>
          <p:cNvSpPr txBox="1"/>
          <p:nvPr/>
        </p:nvSpPr>
        <p:spPr>
          <a:xfrm>
            <a:off x="552450" y="4280892"/>
            <a:ext cx="11201400" cy="260003"/>
          </a:xfrm>
          <a:prstGeom prst="rect">
            <a:avLst/>
          </a:prstGeom>
          <a:noFill/>
          <a:ln w="0">
            <a:noFill/>
          </a:ln>
        </p:spPr>
        <p:txBody>
          <a:bodyPr wrap="square" lIns="0" tIns="0" rIns="0" bIns="0" anchor="t" rtlCol="0">
            <a:noAutofit/>
          </a:bodyPr>
          <a:lstStyle/>
          <a:p>
            <a:pPr marL="0" indent="0" algn="l">
              <a:lnSpc>
                <a:spcPts val="2048"/>
              </a:lnSpc>
              <a:buNone/>
            </a:pPr>
            <a:r>
              <a:rPr lang="en-US" sz="1575" dirty="0">
                <a:solidFill>
                  <a:srgbClr val="1F2937"/>
                </a:solidFill>
                <a:latin typeface="Arial"/>
                <a:cs typeface="Arial"/>
              </a:rPr>
              <a:t>Most Liability misses were injury emails that mention a car, which went to Motor.</a:t>
            </a:r>
            <a:endParaRPr lang="en-US" sz="1575" dirty="0"/>
          </a:p>
        </p:txBody>
      </p:sp>
      <p:sp>
        <p:nvSpPr>
          <p:cNvPr id="6" name="TextBox 6"/>
          <p:cNvSpPr txBox="1"/>
          <p:nvPr/>
        </p:nvSpPr>
        <p:spPr>
          <a:xfrm>
            <a:off x="552450" y="5858917"/>
            <a:ext cx="11201400" cy="332333"/>
          </a:xfrm>
          <a:prstGeom prst="rect">
            <a:avLst/>
          </a:prstGeom>
          <a:noFill/>
          <a:ln w="0">
            <a:noFill/>
          </a:ln>
        </p:spPr>
        <p:txBody>
          <a:bodyPr wrap="square" lIns="0" tIns="171450" rIns="0" bIns="0" anchor="t" rtlCol="0">
            <a:noAutofit/>
          </a:bodyPr>
          <a:lstStyle/>
          <a:p>
            <a:pPr marL="0" indent="0" algn="l">
              <a:lnSpc>
                <a:spcPts val="1268"/>
              </a:lnSpc>
              <a:buNone/>
            </a:pPr>
            <a:r>
              <a:rPr lang="en-US" sz="975" dirty="0">
                <a:solidFill>
                  <a:srgbClr val="6B7280"/>
                </a:solidFill>
                <a:latin typeface="Arial"/>
                <a:cs typeface="Arial"/>
              </a:rPr>
              <a:t>Source: POC test on 600 anonymized emails from January to June 2026. Bars run from 0 to 100%.</a:t>
            </a:r>
            <a:endParaRPr lang="en-US" sz="975" dirty="0"/>
          </a:p>
        </p:txBody>
      </p:sp>
      <p:sp>
        <p:nvSpPr>
          <p:cNvPr id="7" name="TextBox 7"/>
          <p:cNvSpPr txBox="1"/>
          <p:nvPr/>
        </p:nvSpPr>
        <p:spPr>
          <a:xfrm>
            <a:off x="552450" y="6454229"/>
            <a:ext cx="1736949"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Contoso Consulting · Confidential</a:t>
            </a:r>
            <a:endParaRPr lang="en-US" sz="900" dirty="0"/>
          </a:p>
        </p:txBody>
      </p:sp>
      <p:sp>
        <p:nvSpPr>
          <p:cNvPr id="8" name="TextBox 8"/>
          <p:cNvSpPr txBox="1"/>
          <p:nvPr/>
        </p:nvSpPr>
        <p:spPr>
          <a:xfrm>
            <a:off x="11520785" y="6454229"/>
            <a:ext cx="121140" cy="137071"/>
          </a:xfrm>
          <a:prstGeom prst="rect">
            <a:avLst/>
          </a:prstGeom>
          <a:noFill/>
          <a:ln w="0">
            <a:noFill/>
          </a:ln>
        </p:spPr>
        <p:txBody>
          <a:bodyPr wrap="square" lIns="0" tIns="0" rIns="0" bIns="0" anchor="t" rtlCol="0">
            <a:noAutofit/>
          </a:bodyPr>
          <a:lstStyle/>
          <a:p>
            <a:pPr marL="0" indent="0" algn="l">
              <a:lnSpc>
                <a:spcPts val="1080"/>
              </a:lnSpc>
              <a:buNone/>
            </a:pPr>
            <a:r>
              <a:rPr lang="en-US" sz="900" dirty="0">
                <a:solidFill>
                  <a:srgbClr val="6B7280"/>
                </a:solidFill>
                <a:latin typeface="Arial"/>
                <a:cs typeface="Arial"/>
              </a:rPr>
              <a:t>11</a:t>
            </a:r>
            <a:endParaRPr lang="en-US" sz="900" dirty="0"/>
          </a:p>
        </p:txBody>
      </p:sp>
    </p:spTree>
  </p:cSld>
  <p:clrMapOvr>
    <a:masterClrMapping/>
  </p:clrMapOvr>
</p:sld>
</file>

<file path=ppt/theme/theme1.xml><?xml version="1.0" encoding="utf-8"?>
<a:theme xmlns:a="http://schemas.openxmlformats.org/drawingml/2006/main" name="POC Deck">
  <a:themeElements>
    <a:clrScheme name="POC Deck">
      <a:dk1>
        <a:srgbClr val="1F2937"/>
      </a:dk1>
      <a:lt1>
        <a:srgbClr val="FFFFFF"/>
      </a:lt1>
      <a:dk2>
        <a:srgbClr val="1E4E8C"/>
      </a:dk2>
      <a:lt2>
        <a:srgbClr val="F3F4F6"/>
      </a:lt2>
      <a:accent1>
        <a:srgbClr val="1E4E8C"/>
      </a:accent1>
      <a:accent2>
        <a:srgbClr val="6B7280"/>
      </a:accent2>
      <a:accent3>
        <a:srgbClr val="15803D"/>
      </a:accent3>
      <a:accent4>
        <a:srgbClr val="B45309"/>
      </a:accent4>
      <a:accent5>
        <a:srgbClr val="B91C1C"/>
      </a:accent5>
      <a:accent6>
        <a:srgbClr val="9CA3AF"/>
      </a:accent6>
      <a:hlink>
        <a:srgbClr val="2563EB"/>
      </a:hlink>
      <a:folHlink>
        <a:srgbClr val="7C3AED"/>
      </a:folHlink>
    </a:clrScheme>
    <a:fontScheme name="POC Deck">
      <a:majorFont>
        <a:latin typeface="Arial"/>
        <a:ea typeface=""/>
        <a:cs typeface=""/>
      </a:majorFont>
      <a:minorFont>
        <a:latin typeface="Arial"/>
        <a:ea typeface=""/>
        <a:cs typeface=""/>
      </a:minorFont>
    </a:fontScheme>
    <a:fmtScheme name="POC Deck">
      <a:fillStyleLst>
        <a:solidFill>
          <a:schemeClr val="phClr"/>
        </a:solidFill>
        <a:solidFill>
          <a:schemeClr val="phClr"/>
        </a:solidFill>
        <a:solidFill>
          <a:schemeClr val="phClr"/>
        </a:solidFill>
      </a:fillStyleLst>
      <a:lnStyleLst>
        <a:ln w="9525"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POC Deck">
  <a:themeElements>
    <a:clrScheme name="POC Deck">
      <a:dk1>
        <a:srgbClr val="1F2937"/>
      </a:dk1>
      <a:lt1>
        <a:srgbClr val="FFFFFF"/>
      </a:lt1>
      <a:dk2>
        <a:srgbClr val="1E4E8C"/>
      </a:dk2>
      <a:lt2>
        <a:srgbClr val="F3F4F6"/>
      </a:lt2>
      <a:accent1>
        <a:srgbClr val="1E4E8C"/>
      </a:accent1>
      <a:accent2>
        <a:srgbClr val="6B7280"/>
      </a:accent2>
      <a:accent3>
        <a:srgbClr val="15803D"/>
      </a:accent3>
      <a:accent4>
        <a:srgbClr val="B45309"/>
      </a:accent4>
      <a:accent5>
        <a:srgbClr val="B91C1C"/>
      </a:accent5>
      <a:accent6>
        <a:srgbClr val="9CA3AF"/>
      </a:accent6>
      <a:hlink>
        <a:srgbClr val="2563EB"/>
      </a:hlink>
      <a:folHlink>
        <a:srgbClr val="7C3AED"/>
      </a:folHlink>
    </a:clrScheme>
    <a:fontScheme name="POC Deck">
      <a:majorFont>
        <a:latin typeface="Arial"/>
        <a:ea typeface=""/>
        <a:cs typeface=""/>
      </a:majorFont>
      <a:minorFont>
        <a:latin typeface="Arial"/>
        <a:ea typeface=""/>
        <a:cs typeface=""/>
      </a:minorFont>
    </a:fontScheme>
    <a:fmtScheme name="POC Deck">
      <a:fillStyleLst>
        <a:solidFill>
          <a:schemeClr val="phClr"/>
        </a:solidFill>
        <a:solidFill>
          <a:schemeClr val="phClr"/>
        </a:solidFill>
        <a:solidFill>
          <a:schemeClr val="phClr"/>
        </a:solidFill>
      </a:fillStyleLst>
      <a:lnStyleLst>
        <a:ln w="9525"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9</Notes>
</Properties>
</file>

<file path=docProps/core.xml><?xml version="1.0" encoding="utf-8"?>
<cp:coreProperties xmlns:cp="http://schemas.openxmlformats.org/package/2006/metadata/core-properties" xmlns:dc="http://purl.org/dc/elements/1.1/" xmlns:dcterms="http://purl.org/dc/terms/" xmlns:xsi="http://www.w3.org/2001/XMLSchema-instance">
  <dc:title>Claims Email Triage POC: Results and Next Steps</dc:title>
  <dcterms:created xsi:type="dcterms:W3CDTF">2026-10-27T15:34:44Z</dcterms:created>
  <dcterms:modified xsi:type="dcterms:W3CDTF">2026-10-27T15:34:44Z</dcterms:modified>
</cp:coreProperties>
</file>